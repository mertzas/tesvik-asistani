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420"/>
        </a:solidFill>
      </p:bgPr>
    </p:bg>
    <p:spTree>
      <p:nvGrpSpPr>
        <p:cNvPr id="1" name=""/>
        <p:cNvGrpSpPr/>
        <p:nvPr/>
      </p:nvGrpSpPr>
      <p:grpSpPr>
        <a:xfrm>
          <a:off x="0" y="0"/>
          <a:ext cx="0" cy="0"/>
          <a:chOff x="0" y="0"/>
          <a:chExt cx="0" cy="0"/>
        </a:xfrm>
      </p:grpSpPr>
      <p:sp>
        <p:nvSpPr>
          <p:cNvPr id="2" name="Text 0"/>
          <p:cNvSpPr/>
          <p:nvPr/>
        </p:nvSpPr>
        <p:spPr>
          <a:xfrm>
            <a:off x="822960" y="1234440"/>
            <a:ext cx="7315200" cy="365760"/>
          </a:xfrm>
          <a:prstGeom prst="rect">
            <a:avLst/>
          </a:prstGeom>
          <a:noFill/>
          <a:ln/>
        </p:spPr>
        <p:txBody>
          <a:bodyPr wrap="square" rtlCol="0" anchor="ctr"/>
          <a:lstStyle/>
          <a:p>
            <a:pPr indent="0" marL="0">
              <a:buNone/>
            </a:pPr>
            <a:r>
              <a:rPr lang="en-US" sz="1300" b="1" spc="300" kern="0" dirty="0">
                <a:solidFill>
                  <a:srgbClr val="D7AE63"/>
                </a:solidFill>
                <a:latin typeface="Calibri" pitchFamily="34" charset="0"/>
                <a:ea typeface="Calibri" pitchFamily="34" charset="-122"/>
                <a:cs typeface="Calibri" pitchFamily="34" charset="-120"/>
              </a:rPr>
              <a:t>ORTAKLIK ÖNERİSİ  ·  BETA KAPSAMI</a:t>
            </a:r>
            <a:endParaRPr lang="en-US" sz="1300" dirty="0"/>
          </a:p>
        </p:txBody>
      </p:sp>
      <p:sp>
        <p:nvSpPr>
          <p:cNvPr id="3" name="Text 1"/>
          <p:cNvSpPr/>
          <p:nvPr/>
        </p:nvSpPr>
        <p:spPr>
          <a:xfrm>
            <a:off x="777240" y="1600200"/>
            <a:ext cx="9601200" cy="1188720"/>
          </a:xfrm>
          <a:prstGeom prst="rect">
            <a:avLst/>
          </a:prstGeom>
          <a:noFill/>
          <a:ln/>
        </p:spPr>
        <p:txBody>
          <a:bodyPr wrap="square" lIns="0" tIns="0" rIns="0" bIns="0" rtlCol="0" anchor="ctr"/>
          <a:lstStyle/>
          <a:p>
            <a:pPr indent="0" marL="0">
              <a:buNone/>
            </a:pPr>
            <a:r>
              <a:rPr lang="en-US" sz="5400" b="1" dirty="0">
                <a:solidFill>
                  <a:srgbClr val="F5F6F2"/>
                </a:solidFill>
                <a:latin typeface="Bookman Old Style" pitchFamily="34" charset="0"/>
                <a:ea typeface="Bookman Old Style" pitchFamily="34" charset="-122"/>
                <a:cs typeface="Bookman Old Style" pitchFamily="34" charset="-120"/>
              </a:rPr>
              <a:t>Teşvik Asistanı</a:t>
            </a:r>
            <a:endParaRPr lang="en-US" sz="5400" dirty="0"/>
          </a:p>
        </p:txBody>
      </p:sp>
      <p:sp>
        <p:nvSpPr>
          <p:cNvPr id="4" name="Text 2"/>
          <p:cNvSpPr/>
          <p:nvPr/>
        </p:nvSpPr>
        <p:spPr>
          <a:xfrm>
            <a:off x="822960" y="2606040"/>
            <a:ext cx="9601200" cy="640080"/>
          </a:xfrm>
          <a:prstGeom prst="rect">
            <a:avLst/>
          </a:prstGeom>
          <a:noFill/>
          <a:ln/>
        </p:spPr>
        <p:txBody>
          <a:bodyPr wrap="square" lIns="0" tIns="0" rIns="0" bIns="0" rtlCol="0" anchor="ctr"/>
          <a:lstStyle/>
          <a:p>
            <a:pPr indent="0" marL="0">
              <a:buNone/>
            </a:pPr>
            <a:r>
              <a:rPr lang="en-US" sz="3000" i="1" dirty="0">
                <a:solidFill>
                  <a:srgbClr val="D7AE63"/>
                </a:solidFill>
                <a:latin typeface="Bookman Old Style" pitchFamily="34" charset="0"/>
                <a:ea typeface="Bookman Old Style" pitchFamily="34" charset="-122"/>
                <a:cs typeface="Bookman Old Style" pitchFamily="34" charset="-120"/>
              </a:rPr>
              <a:t>İKAS satıcıları için</a:t>
            </a:r>
            <a:endParaRPr lang="en-US" sz="3000" dirty="0"/>
          </a:p>
        </p:txBody>
      </p:sp>
      <p:sp>
        <p:nvSpPr>
          <p:cNvPr id="5" name="Text 3"/>
          <p:cNvSpPr/>
          <p:nvPr/>
        </p:nvSpPr>
        <p:spPr>
          <a:xfrm>
            <a:off x="822960" y="3429000"/>
            <a:ext cx="7863840" cy="1005840"/>
          </a:xfrm>
          <a:prstGeom prst="rect">
            <a:avLst/>
          </a:prstGeom>
          <a:noFill/>
          <a:ln/>
        </p:spPr>
        <p:txBody>
          <a:bodyPr wrap="square" rtlCol="0" anchor="ctr"/>
          <a:lstStyle/>
          <a:p>
            <a:pPr indent="0" marL="0">
              <a:lnSpc>
                <a:spcPts val="2200"/>
              </a:lnSpc>
              <a:buNone/>
            </a:pPr>
            <a:r>
              <a:rPr lang="en-US" sz="1500" dirty="0">
                <a:solidFill>
                  <a:srgbClr val="C9D2CC"/>
                </a:solidFill>
                <a:latin typeface="Calibri" pitchFamily="34" charset="0"/>
                <a:ea typeface="Calibri" pitchFamily="34" charset="-122"/>
                <a:cs typeface="Calibri" pitchFamily="34" charset="-120"/>
              </a:rPr>
              <a:t>İKAS mağazasını bağlayan bir satıcı; hiçbir veri elle girmeden, hangi devlet desteklerine uygun olduğunu, ne kadar destek alabileceğini ve stok/reklam bütçesini nasıl planlaması gerektiğini görür.</a:t>
            </a:r>
            <a:endParaRPr lang="en-US" sz="1500" dirty="0"/>
          </a:p>
        </p:txBody>
      </p:sp>
      <p:pic>
        <p:nvPicPr>
          <p:cNvPr id="6" name="Image 0" descr="preencoded.png">    </p:cNvPr>
          <p:cNvPicPr>
            <a:picLocks noChangeAspect="1"/>
          </p:cNvPicPr>
          <p:nvPr/>
        </p:nvPicPr>
        <p:blipFill>
          <a:blip r:embed="rId1">
            <a:alphaModFix amt="85000"/>
          </a:blip>
          <a:stretch>
            <a:fillRect/>
          </a:stretch>
        </p:blipFill>
        <p:spPr>
          <a:xfrm>
            <a:off x="9692640" y="1828800"/>
            <a:ext cx="1554480" cy="1554480"/>
          </a:xfrm>
          <a:prstGeom prst="rect">
            <a:avLst/>
          </a:prstGeom>
        </p:spPr>
      </p:pic>
      <p:sp>
        <p:nvSpPr>
          <p:cNvPr id="7" name="Text 4"/>
          <p:cNvSpPr/>
          <p:nvPr/>
        </p:nvSpPr>
        <p:spPr>
          <a:xfrm>
            <a:off x="822960" y="6172200"/>
            <a:ext cx="7315200" cy="365760"/>
          </a:xfrm>
          <a:prstGeom prst="rect">
            <a:avLst/>
          </a:prstGeom>
          <a:noFill/>
          <a:ln/>
        </p:spPr>
        <p:txBody>
          <a:bodyPr wrap="square" rtlCol="0" anchor="ctr"/>
          <a:lstStyle/>
          <a:p>
            <a:pPr indent="0" marL="0">
              <a:buNone/>
            </a:pPr>
            <a:r>
              <a:rPr lang="en-US" sz="1050" dirty="0">
                <a:solidFill>
                  <a:srgbClr val="7E9490"/>
                </a:solidFill>
                <a:latin typeface="Calibri" pitchFamily="34" charset="0"/>
                <a:ea typeface="Calibri" pitchFamily="34" charset="-122"/>
                <a:cs typeface="Calibri" pitchFamily="34" charset="-120"/>
              </a:rPr>
              <a:t>Teşvik Asistanı  ·  Sürüm 0.1  ·  Beta öncesi taslak</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50" b="1" spc="200" kern="0" dirty="0">
                <a:solidFill>
                  <a:srgbClr val="B8862F"/>
                </a:solidFill>
                <a:latin typeface="Calibri" pitchFamily="34" charset="0"/>
                <a:ea typeface="Calibri" pitchFamily="34" charset="-122"/>
                <a:cs typeface="Calibri" pitchFamily="34" charset="-120"/>
              </a:rPr>
              <a:t>NEDEN İKAS SATICILARI İÇİN</a:t>
            </a:r>
            <a:endParaRPr lang="en-US" sz="1250" dirty="0"/>
          </a:p>
        </p:txBody>
      </p:sp>
      <p:sp>
        <p:nvSpPr>
          <p:cNvPr id="3" name="Text 1"/>
          <p:cNvSpPr/>
          <p:nvPr/>
        </p:nvSpPr>
        <p:spPr>
          <a:xfrm>
            <a:off x="640080" y="804672"/>
            <a:ext cx="10515600" cy="731520"/>
          </a:xfrm>
          <a:prstGeom prst="rect">
            <a:avLst/>
          </a:prstGeom>
          <a:noFill/>
          <a:ln/>
        </p:spPr>
        <p:txBody>
          <a:bodyPr wrap="square" lIns="0" tIns="0" rIns="0" bIns="0" rtlCol="0" anchor="ctr"/>
          <a:lstStyle/>
          <a:p>
            <a:pPr indent="0" marL="0">
              <a:buNone/>
            </a:pPr>
            <a:r>
              <a:rPr lang="en-US" sz="3000" b="1" dirty="0">
                <a:solidFill>
                  <a:srgbClr val="16211F"/>
                </a:solidFill>
                <a:latin typeface="Bookman Old Style" pitchFamily="34" charset="0"/>
                <a:ea typeface="Bookman Old Style" pitchFamily="34" charset="-122"/>
                <a:cs typeface="Bookman Old Style" pitchFamily="34" charset="-120"/>
              </a:rPr>
              <a:t>Aynı hedef kitle, farklı bir kanaldan</a:t>
            </a:r>
            <a:endParaRPr lang="en-US" sz="3000" dirty="0"/>
          </a:p>
        </p:txBody>
      </p:sp>
      <p:sp>
        <p:nvSpPr>
          <p:cNvPr id="4" name="Text 2"/>
          <p:cNvSpPr/>
          <p:nvPr/>
        </p:nvSpPr>
        <p:spPr>
          <a:xfrm>
            <a:off x="640080" y="1691640"/>
            <a:ext cx="10881360" cy="1051560"/>
          </a:xfrm>
          <a:prstGeom prst="rect">
            <a:avLst/>
          </a:prstGeom>
          <a:noFill/>
          <a:ln/>
        </p:spPr>
        <p:txBody>
          <a:bodyPr wrap="square" rtlCol="0" anchor="ctr"/>
          <a:lstStyle/>
          <a:p>
            <a:pPr indent="0" marL="0">
              <a:lnSpc>
                <a:spcPts val="2200"/>
              </a:lnSpc>
              <a:buNone/>
            </a:pPr>
            <a:r>
              <a:rPr lang="en-US" sz="1450" dirty="0">
                <a:solidFill>
                  <a:srgbClr val="4B5B57"/>
                </a:solidFill>
                <a:latin typeface="Calibri" pitchFamily="34" charset="0"/>
                <a:ea typeface="Calibri" pitchFamily="34" charset="-122"/>
                <a:cs typeface="Calibri" pitchFamily="34" charset="-120"/>
              </a:rPr>
              <a:t>İKAS'taki satıcıların büyük kısmı KOBİ ölçeğinde e-ticaret işletmeleri — tam olarak KOSGEB, TÜBİTAK ve KGF gibi kurumların hedef kitlesi. Bugün bu satıcılar destekleri ya hiç bilmiyor ya da elle arayıp buluyor. Teşvik Asistanı bu süreci, satıcının zaten İKAS'ta var olan verisiyle otomatikleştirir.</a:t>
            </a:r>
            <a:endParaRPr lang="en-US" sz="1450" dirty="0"/>
          </a:p>
        </p:txBody>
      </p:sp>
      <p:sp>
        <p:nvSpPr>
          <p:cNvPr id="5" name="Shape 3"/>
          <p:cNvSpPr/>
          <p:nvPr/>
        </p:nvSpPr>
        <p:spPr>
          <a:xfrm>
            <a:off x="640080" y="3063240"/>
            <a:ext cx="3429000" cy="2606040"/>
          </a:xfrm>
          <a:prstGeom prst="rect">
            <a:avLst/>
          </a:prstGeom>
          <a:solidFill>
            <a:srgbClr val="FFFFFF"/>
          </a:solidFill>
          <a:ln/>
          <a:effectLst>
            <a:outerShdw sx="100000" sy="100000" kx="0" ky="0" algn="bl" rotWithShape="0" blurRad="101600" dist="381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60120" y="3383280"/>
            <a:ext cx="502920" cy="502920"/>
          </a:xfrm>
          <a:prstGeom prst="rect">
            <a:avLst/>
          </a:prstGeom>
        </p:spPr>
      </p:pic>
      <p:sp>
        <p:nvSpPr>
          <p:cNvPr id="7" name="Text 4"/>
          <p:cNvSpPr/>
          <p:nvPr/>
        </p:nvSpPr>
        <p:spPr>
          <a:xfrm>
            <a:off x="960120" y="4023360"/>
            <a:ext cx="2788920" cy="502920"/>
          </a:xfrm>
          <a:prstGeom prst="rect">
            <a:avLst/>
          </a:prstGeom>
          <a:noFill/>
          <a:ln/>
        </p:spPr>
        <p:txBody>
          <a:bodyPr wrap="square" lIns="0" tIns="0" rIns="0" bIns="0" rtlCol="0" anchor="ctr"/>
          <a:lstStyle/>
          <a:p>
            <a:pPr indent="0" marL="0">
              <a:buNone/>
            </a:pPr>
            <a:r>
              <a:rPr lang="en-US" sz="2400" b="1" dirty="0">
                <a:solidFill>
                  <a:srgbClr val="2F5E5B"/>
                </a:solidFill>
                <a:latin typeface="Bookman Old Style" pitchFamily="34" charset="0"/>
                <a:ea typeface="Bookman Old Style" pitchFamily="34" charset="-122"/>
                <a:cs typeface="Bookman Old Style" pitchFamily="34" charset="-120"/>
              </a:rPr>
              <a:t>0 giriş</a:t>
            </a:r>
            <a:endParaRPr lang="en-US" sz="2400" dirty="0"/>
          </a:p>
        </p:txBody>
      </p:sp>
      <p:sp>
        <p:nvSpPr>
          <p:cNvPr id="8" name="Text 5"/>
          <p:cNvSpPr/>
          <p:nvPr/>
        </p:nvSpPr>
        <p:spPr>
          <a:xfrm>
            <a:off x="960120" y="4572000"/>
            <a:ext cx="2788920" cy="914400"/>
          </a:xfrm>
          <a:prstGeom prst="rect">
            <a:avLst/>
          </a:prstGeom>
          <a:noFill/>
          <a:ln/>
        </p:spPr>
        <p:txBody>
          <a:bodyPr wrap="square" rtlCol="0" anchor="ctr"/>
          <a:lstStyle/>
          <a:p>
            <a:pPr indent="0" marL="0">
              <a:lnSpc>
                <a:spcPts val="1700"/>
              </a:lnSpc>
              <a:buNone/>
            </a:pPr>
            <a:r>
              <a:rPr lang="en-US" sz="1250" dirty="0">
                <a:solidFill>
                  <a:srgbClr val="7C8A86"/>
                </a:solidFill>
                <a:latin typeface="Calibri" pitchFamily="34" charset="0"/>
                <a:ea typeface="Calibri" pitchFamily="34" charset="-122"/>
                <a:cs typeface="Calibri" pitchFamily="34" charset="-120"/>
              </a:rPr>
              <a:t>Ciro, sipariş hacmi ve kategori verisi İKAS'tan otomatik çekilir</a:t>
            </a:r>
            <a:endParaRPr lang="en-US" sz="1250" dirty="0"/>
          </a:p>
        </p:txBody>
      </p:sp>
      <p:sp>
        <p:nvSpPr>
          <p:cNvPr id="9" name="Shape 6"/>
          <p:cNvSpPr/>
          <p:nvPr/>
        </p:nvSpPr>
        <p:spPr>
          <a:xfrm>
            <a:off x="4389120" y="3063240"/>
            <a:ext cx="3429000" cy="2606040"/>
          </a:xfrm>
          <a:prstGeom prst="rect">
            <a:avLst/>
          </a:prstGeom>
          <a:solidFill>
            <a:srgbClr val="FFFFFF"/>
          </a:solidFill>
          <a:ln/>
          <a:effectLst>
            <a:outerShdw sx="100000" sy="100000" kx="0" ky="0" algn="bl" rotWithShape="0" blurRad="101600" dist="38100" dir="5400000">
              <a:srgbClr val="000000">
                <a:alpha val="8000"/>
              </a:srgbClr>
            </a:outerShdw>
          </a:effectLst>
        </p:spPr>
      </p:sp>
      <p:pic>
        <p:nvPicPr>
          <p:cNvPr id="10" name="Image 1" descr="preencoded.png">    </p:cNvPr>
          <p:cNvPicPr>
            <a:picLocks noChangeAspect="1"/>
          </p:cNvPicPr>
          <p:nvPr/>
        </p:nvPicPr>
        <p:blipFill>
          <a:blip r:embed="rId2"/>
          <a:stretch>
            <a:fillRect/>
          </a:stretch>
        </p:blipFill>
        <p:spPr>
          <a:xfrm>
            <a:off x="4709160" y="3383280"/>
            <a:ext cx="502920" cy="502920"/>
          </a:xfrm>
          <a:prstGeom prst="rect">
            <a:avLst/>
          </a:prstGeom>
        </p:spPr>
      </p:pic>
      <p:sp>
        <p:nvSpPr>
          <p:cNvPr id="11" name="Text 7"/>
          <p:cNvSpPr/>
          <p:nvPr/>
        </p:nvSpPr>
        <p:spPr>
          <a:xfrm>
            <a:off x="4709160" y="4023360"/>
            <a:ext cx="2788920" cy="502920"/>
          </a:xfrm>
          <a:prstGeom prst="rect">
            <a:avLst/>
          </a:prstGeom>
          <a:noFill/>
          <a:ln/>
        </p:spPr>
        <p:txBody>
          <a:bodyPr wrap="square" lIns="0" tIns="0" rIns="0" bIns="0" rtlCol="0" anchor="ctr"/>
          <a:lstStyle/>
          <a:p>
            <a:pPr indent="0" marL="0">
              <a:buNone/>
            </a:pPr>
            <a:r>
              <a:rPr lang="en-US" sz="2400" b="1" dirty="0">
                <a:solidFill>
                  <a:srgbClr val="2F5E5B"/>
                </a:solidFill>
                <a:latin typeface="Bookman Old Style" pitchFamily="34" charset="0"/>
                <a:ea typeface="Bookman Old Style" pitchFamily="34" charset="-122"/>
                <a:cs typeface="Bookman Old Style" pitchFamily="34" charset="-120"/>
              </a:rPr>
              <a:t>3 kurum</a:t>
            </a:r>
            <a:endParaRPr lang="en-US" sz="2400" dirty="0"/>
          </a:p>
        </p:txBody>
      </p:sp>
      <p:sp>
        <p:nvSpPr>
          <p:cNvPr id="12" name="Text 8"/>
          <p:cNvSpPr/>
          <p:nvPr/>
        </p:nvSpPr>
        <p:spPr>
          <a:xfrm>
            <a:off x="4709160" y="4572000"/>
            <a:ext cx="2788920" cy="914400"/>
          </a:xfrm>
          <a:prstGeom prst="rect">
            <a:avLst/>
          </a:prstGeom>
          <a:noFill/>
          <a:ln/>
        </p:spPr>
        <p:txBody>
          <a:bodyPr wrap="square" rtlCol="0" anchor="ctr"/>
          <a:lstStyle/>
          <a:p>
            <a:pPr indent="0" marL="0">
              <a:lnSpc>
                <a:spcPts val="1700"/>
              </a:lnSpc>
              <a:buNone/>
            </a:pPr>
            <a:r>
              <a:rPr lang="en-US" sz="1250" dirty="0">
                <a:solidFill>
                  <a:srgbClr val="7C8A86"/>
                </a:solidFill>
                <a:latin typeface="Calibri" pitchFamily="34" charset="0"/>
                <a:ea typeface="Calibri" pitchFamily="34" charset="-122"/>
                <a:cs typeface="Calibri" pitchFamily="34" charset="-120"/>
              </a:rPr>
              <a:t>KOSGEB, TÜBİTAK, KGF verisiyle anında eşleştirme</a:t>
            </a:r>
            <a:endParaRPr lang="en-US" sz="1250" dirty="0"/>
          </a:p>
        </p:txBody>
      </p:sp>
      <p:sp>
        <p:nvSpPr>
          <p:cNvPr id="13" name="Shape 9"/>
          <p:cNvSpPr/>
          <p:nvPr/>
        </p:nvSpPr>
        <p:spPr>
          <a:xfrm>
            <a:off x="8138160" y="3063240"/>
            <a:ext cx="3429000" cy="2606040"/>
          </a:xfrm>
          <a:prstGeom prst="rect">
            <a:avLst/>
          </a:prstGeom>
          <a:solidFill>
            <a:srgbClr val="FFFFFF"/>
          </a:solidFill>
          <a:ln/>
          <a:effectLst>
            <a:outerShdw sx="100000" sy="100000" kx="0" ky="0" algn="bl" rotWithShape="0" blurRad="101600" dist="38100" dir="5400000">
              <a:srgbClr val="000000">
                <a:alpha val="8000"/>
              </a:srgbClr>
            </a:outerShdw>
          </a:effectLst>
        </p:spPr>
      </p:sp>
      <p:pic>
        <p:nvPicPr>
          <p:cNvPr id="14" name="Image 2" descr="preencoded.png">    </p:cNvPr>
          <p:cNvPicPr>
            <a:picLocks noChangeAspect="1"/>
          </p:cNvPicPr>
          <p:nvPr/>
        </p:nvPicPr>
        <p:blipFill>
          <a:blip r:embed="rId3"/>
          <a:stretch>
            <a:fillRect/>
          </a:stretch>
        </p:blipFill>
        <p:spPr>
          <a:xfrm>
            <a:off x="8458200" y="3383280"/>
            <a:ext cx="502920" cy="502920"/>
          </a:xfrm>
          <a:prstGeom prst="rect">
            <a:avLst/>
          </a:prstGeom>
        </p:spPr>
      </p:pic>
      <p:sp>
        <p:nvSpPr>
          <p:cNvPr id="15" name="Text 10"/>
          <p:cNvSpPr/>
          <p:nvPr/>
        </p:nvSpPr>
        <p:spPr>
          <a:xfrm>
            <a:off x="8458200" y="4023360"/>
            <a:ext cx="2788920" cy="502920"/>
          </a:xfrm>
          <a:prstGeom prst="rect">
            <a:avLst/>
          </a:prstGeom>
          <a:noFill/>
          <a:ln/>
        </p:spPr>
        <p:txBody>
          <a:bodyPr wrap="square" lIns="0" tIns="0" rIns="0" bIns="0" rtlCol="0" anchor="ctr"/>
          <a:lstStyle/>
          <a:p>
            <a:pPr indent="0" marL="0">
              <a:buNone/>
            </a:pPr>
            <a:r>
              <a:rPr lang="en-US" sz="2400" b="1" dirty="0">
                <a:solidFill>
                  <a:srgbClr val="2F5E5B"/>
                </a:solidFill>
                <a:latin typeface="Bookman Old Style" pitchFamily="34" charset="0"/>
                <a:ea typeface="Bookman Old Style" pitchFamily="34" charset="-122"/>
                <a:cs typeface="Bookman Old Style" pitchFamily="34" charset="-120"/>
              </a:rPr>
              <a:t>TÜİK / TCMB</a:t>
            </a:r>
            <a:endParaRPr lang="en-US" sz="2400" dirty="0"/>
          </a:p>
        </p:txBody>
      </p:sp>
      <p:sp>
        <p:nvSpPr>
          <p:cNvPr id="16" name="Text 11"/>
          <p:cNvSpPr/>
          <p:nvPr/>
        </p:nvSpPr>
        <p:spPr>
          <a:xfrm>
            <a:off x="8458200" y="4572000"/>
            <a:ext cx="2788920" cy="914400"/>
          </a:xfrm>
          <a:prstGeom prst="rect">
            <a:avLst/>
          </a:prstGeom>
          <a:noFill/>
          <a:ln/>
        </p:spPr>
        <p:txBody>
          <a:bodyPr wrap="square" rtlCol="0" anchor="ctr"/>
          <a:lstStyle/>
          <a:p>
            <a:pPr indent="0" marL="0">
              <a:lnSpc>
                <a:spcPts val="1700"/>
              </a:lnSpc>
              <a:buNone/>
            </a:pPr>
            <a:r>
              <a:rPr lang="en-US" sz="1250" dirty="0">
                <a:solidFill>
                  <a:srgbClr val="7C8A86"/>
                </a:solidFill>
                <a:latin typeface="Calibri" pitchFamily="34" charset="0"/>
                <a:ea typeface="Calibri" pitchFamily="34" charset="-122"/>
                <a:cs typeface="Calibri" pitchFamily="34" charset="-120"/>
              </a:rPr>
              <a:t>Canlı enflasyon verisiyle stok ve reklam bütçesi önerisi</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50" b="1" spc="200" kern="0" dirty="0">
                <a:solidFill>
                  <a:srgbClr val="B8862F"/>
                </a:solidFill>
                <a:latin typeface="Calibri" pitchFamily="34" charset="0"/>
                <a:ea typeface="Calibri" pitchFamily="34" charset="-122"/>
                <a:cs typeface="Calibri" pitchFamily="34" charset="-120"/>
              </a:rPr>
              <a:t>ENTEGRASYON MİMARİSİ</a:t>
            </a:r>
            <a:endParaRPr lang="en-US" sz="12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indent="0" marL="0">
              <a:buNone/>
            </a:pPr>
            <a:r>
              <a:rPr lang="en-US" sz="2700" b="1" dirty="0">
                <a:solidFill>
                  <a:srgbClr val="16211F"/>
                </a:solidFill>
                <a:latin typeface="Bookman Old Style" pitchFamily="34" charset="0"/>
                <a:ea typeface="Bookman Old Style" pitchFamily="34" charset="-122"/>
                <a:cs typeface="Bookman Old Style" pitchFamily="34" charset="-120"/>
              </a:rPr>
              <a:t>Beş adımda, İKAS'ın standart uygulama modeliyle</a:t>
            </a:r>
            <a:endParaRPr lang="en-US" sz="2700" dirty="0"/>
          </a:p>
        </p:txBody>
      </p:sp>
      <p:sp>
        <p:nvSpPr>
          <p:cNvPr id="4" name="Text 2"/>
          <p:cNvSpPr/>
          <p:nvPr/>
        </p:nvSpPr>
        <p:spPr>
          <a:xfrm>
            <a:off x="640080" y="1417320"/>
            <a:ext cx="10881360" cy="457200"/>
          </a:xfrm>
          <a:prstGeom prst="rect">
            <a:avLst/>
          </a:prstGeom>
          <a:noFill/>
          <a:ln/>
        </p:spPr>
        <p:txBody>
          <a:bodyPr wrap="square" rtlCol="0" anchor="ctr"/>
          <a:lstStyle/>
          <a:p>
            <a:pPr indent="0" marL="0">
              <a:buNone/>
            </a:pPr>
            <a:r>
              <a:rPr lang="en-US" sz="1350" dirty="0">
                <a:solidFill>
                  <a:srgbClr val="4B5B57"/>
                </a:solidFill>
                <a:latin typeface="Calibri" pitchFamily="34" charset="0"/>
                <a:ea typeface="Calibri" pitchFamily="34" charset="-122"/>
                <a:cs typeface="Calibri" pitchFamily="34" charset="-120"/>
              </a:rPr>
              <a:t>OAuth2 Authorization Code Flow + Admin GraphQL API üzerinden, satıcı verisine salt-okunur erişim.</a:t>
            </a:r>
            <a:endParaRPr lang="en-US" sz="1350" dirty="0"/>
          </a:p>
        </p:txBody>
      </p:sp>
      <p:sp>
        <p:nvSpPr>
          <p:cNvPr id="5" name="Shape 3"/>
          <p:cNvSpPr/>
          <p:nvPr/>
        </p:nvSpPr>
        <p:spPr>
          <a:xfrm>
            <a:off x="640080" y="2423160"/>
            <a:ext cx="1874520" cy="2331720"/>
          </a:xfrm>
          <a:prstGeom prst="rect">
            <a:avLst/>
          </a:prstGeom>
          <a:solidFill>
            <a:srgbClr val="FFFFFF"/>
          </a:solidFill>
          <a:ln/>
          <a:effectLst>
            <a:outerShdw sx="100000" sy="100000" kx="0" ky="0" algn="bl" rotWithShape="0" blurRad="88900" dist="25400" dir="5400000">
              <a:srgbClr val="000000">
                <a:alpha val="7000"/>
              </a:srgbClr>
            </a:outerShdw>
          </a:effectLst>
        </p:spPr>
      </p:sp>
      <p:sp>
        <p:nvSpPr>
          <p:cNvPr id="6" name="Text 4"/>
          <p:cNvSpPr/>
          <p:nvPr/>
        </p:nvSpPr>
        <p:spPr>
          <a:xfrm>
            <a:off x="822960" y="2606040"/>
            <a:ext cx="1508760" cy="365760"/>
          </a:xfrm>
          <a:prstGeom prst="rect">
            <a:avLst/>
          </a:prstGeom>
          <a:noFill/>
          <a:ln/>
        </p:spPr>
        <p:txBody>
          <a:bodyPr wrap="square" rtlCol="0" anchor="ctr"/>
          <a:lstStyle/>
          <a:p>
            <a:pPr indent="0" marL="0">
              <a:buNone/>
            </a:pPr>
            <a:r>
              <a:rPr lang="en-US" sz="1200" b="1" spc="100" kern="0" dirty="0">
                <a:solidFill>
                  <a:srgbClr val="B8862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822960" y="3017520"/>
            <a:ext cx="1508760" cy="777240"/>
          </a:xfrm>
          <a:prstGeom prst="rect">
            <a:avLst/>
          </a:prstGeom>
          <a:noFill/>
          <a:ln/>
        </p:spPr>
        <p:txBody>
          <a:bodyPr wrap="square" rtlCol="0" anchor="ctr"/>
          <a:lstStyle/>
          <a:p>
            <a:pPr indent="0" marL="0">
              <a:lnSpc>
                <a:spcPts val="1600"/>
              </a:lnSpc>
              <a:buNone/>
            </a:pPr>
            <a:r>
              <a:rPr lang="en-US" sz="1300" b="1" dirty="0">
                <a:solidFill>
                  <a:srgbClr val="16211F"/>
                </a:solidFill>
                <a:latin typeface="Calibri" pitchFamily="34" charset="0"/>
                <a:ea typeface="Calibri" pitchFamily="34" charset="-122"/>
                <a:cs typeface="Calibri" pitchFamily="34" charset="-120"/>
              </a:rPr>
              <a:t>Mağaza bağlanır</a:t>
            </a:r>
            <a:endParaRPr lang="en-US" sz="1300" dirty="0"/>
          </a:p>
        </p:txBody>
      </p:sp>
      <p:sp>
        <p:nvSpPr>
          <p:cNvPr id="8" name="Text 6"/>
          <p:cNvSpPr/>
          <p:nvPr/>
        </p:nvSpPr>
        <p:spPr>
          <a:xfrm>
            <a:off x="822960" y="3840480"/>
            <a:ext cx="1508760" cy="822960"/>
          </a:xfrm>
          <a:prstGeom prst="rect">
            <a:avLst/>
          </a:prstGeom>
          <a:noFill/>
          <a:ln/>
        </p:spPr>
        <p:txBody>
          <a:bodyPr wrap="square" rtlCol="0" anchor="ctr"/>
          <a:lstStyle/>
          <a:p>
            <a:pPr indent="0" marL="0">
              <a:lnSpc>
                <a:spcPts val="1300"/>
              </a:lnSpc>
              <a:buNone/>
            </a:pPr>
            <a:r>
              <a:rPr lang="en-US" sz="1050" dirty="0">
                <a:solidFill>
                  <a:srgbClr val="7C8A86"/>
                </a:solidFill>
                <a:latin typeface="Calibri" pitchFamily="34" charset="0"/>
                <a:ea typeface="Calibri" pitchFamily="34" charset="-122"/>
                <a:cs typeface="Calibri" pitchFamily="34" charset="-120"/>
              </a:rPr>
              <a:t>Satıcı İKAS Uygulama Mağazası'ndan yükler</a:t>
            </a:r>
            <a:endParaRPr lang="en-US" sz="1050" dirty="0"/>
          </a:p>
        </p:txBody>
      </p:sp>
      <p:pic>
        <p:nvPicPr>
          <p:cNvPr id="9" name="Image 0" descr="preencoded.png">    </p:cNvPr>
          <p:cNvPicPr>
            <a:picLocks noChangeAspect="1"/>
          </p:cNvPicPr>
          <p:nvPr/>
        </p:nvPicPr>
        <p:blipFill>
          <a:blip r:embed="rId1"/>
          <a:stretch>
            <a:fillRect/>
          </a:stretch>
        </p:blipFill>
        <p:spPr>
          <a:xfrm>
            <a:off x="2578608" y="3461004"/>
            <a:ext cx="256032" cy="256032"/>
          </a:xfrm>
          <a:prstGeom prst="rect">
            <a:avLst/>
          </a:prstGeom>
        </p:spPr>
      </p:pic>
      <p:sp>
        <p:nvSpPr>
          <p:cNvPr id="10" name="Shape 7"/>
          <p:cNvSpPr/>
          <p:nvPr/>
        </p:nvSpPr>
        <p:spPr>
          <a:xfrm>
            <a:off x="2898648" y="2423160"/>
            <a:ext cx="1874520" cy="2331720"/>
          </a:xfrm>
          <a:prstGeom prst="rect">
            <a:avLst/>
          </a:prstGeom>
          <a:solidFill>
            <a:srgbClr val="FFFFFF"/>
          </a:solidFill>
          <a:ln/>
          <a:effectLst>
            <a:outerShdw sx="100000" sy="100000" kx="0" ky="0" algn="bl" rotWithShape="0" blurRad="88900" dist="25400" dir="5400000">
              <a:srgbClr val="000000">
                <a:alpha val="7000"/>
              </a:srgbClr>
            </a:outerShdw>
          </a:effectLst>
        </p:spPr>
      </p:sp>
      <p:sp>
        <p:nvSpPr>
          <p:cNvPr id="11" name="Text 8"/>
          <p:cNvSpPr/>
          <p:nvPr/>
        </p:nvSpPr>
        <p:spPr>
          <a:xfrm>
            <a:off x="3081528" y="2606040"/>
            <a:ext cx="1508760" cy="365760"/>
          </a:xfrm>
          <a:prstGeom prst="rect">
            <a:avLst/>
          </a:prstGeom>
          <a:noFill/>
          <a:ln/>
        </p:spPr>
        <p:txBody>
          <a:bodyPr wrap="square" rtlCol="0" anchor="ctr"/>
          <a:lstStyle/>
          <a:p>
            <a:pPr indent="0" marL="0">
              <a:buNone/>
            </a:pPr>
            <a:r>
              <a:rPr lang="en-US" sz="1200" b="1" spc="100" kern="0" dirty="0">
                <a:solidFill>
                  <a:srgbClr val="B8862F"/>
                </a:solidFill>
                <a:latin typeface="Calibri" pitchFamily="34" charset="0"/>
                <a:ea typeface="Calibri" pitchFamily="34" charset="-122"/>
                <a:cs typeface="Calibri" pitchFamily="34" charset="-120"/>
              </a:rPr>
              <a:t>02</a:t>
            </a:r>
            <a:endParaRPr lang="en-US" sz="1200" dirty="0"/>
          </a:p>
        </p:txBody>
      </p:sp>
      <p:sp>
        <p:nvSpPr>
          <p:cNvPr id="12" name="Text 9"/>
          <p:cNvSpPr/>
          <p:nvPr/>
        </p:nvSpPr>
        <p:spPr>
          <a:xfrm>
            <a:off x="3081528" y="3017520"/>
            <a:ext cx="1508760" cy="777240"/>
          </a:xfrm>
          <a:prstGeom prst="rect">
            <a:avLst/>
          </a:prstGeom>
          <a:noFill/>
          <a:ln/>
        </p:spPr>
        <p:txBody>
          <a:bodyPr wrap="square" rtlCol="0" anchor="ctr"/>
          <a:lstStyle/>
          <a:p>
            <a:pPr indent="0" marL="0">
              <a:lnSpc>
                <a:spcPts val="1600"/>
              </a:lnSpc>
              <a:buNone/>
            </a:pPr>
            <a:r>
              <a:rPr lang="en-US" sz="1300" b="1" dirty="0">
                <a:solidFill>
                  <a:srgbClr val="16211F"/>
                </a:solidFill>
                <a:latin typeface="Calibri" pitchFamily="34" charset="0"/>
                <a:ea typeface="Calibri" pitchFamily="34" charset="-122"/>
                <a:cs typeface="Calibri" pitchFamily="34" charset="-120"/>
              </a:rPr>
              <a:t>OAuth2 yetkilendirme</a:t>
            </a:r>
            <a:endParaRPr lang="en-US" sz="1300" dirty="0"/>
          </a:p>
        </p:txBody>
      </p:sp>
      <p:sp>
        <p:nvSpPr>
          <p:cNvPr id="13" name="Text 10"/>
          <p:cNvSpPr/>
          <p:nvPr/>
        </p:nvSpPr>
        <p:spPr>
          <a:xfrm>
            <a:off x="3081528" y="3840480"/>
            <a:ext cx="1508760" cy="822960"/>
          </a:xfrm>
          <a:prstGeom prst="rect">
            <a:avLst/>
          </a:prstGeom>
          <a:noFill/>
          <a:ln/>
        </p:spPr>
        <p:txBody>
          <a:bodyPr wrap="square" rtlCol="0" anchor="ctr"/>
          <a:lstStyle/>
          <a:p>
            <a:pPr indent="0" marL="0">
              <a:lnSpc>
                <a:spcPts val="1300"/>
              </a:lnSpc>
              <a:buNone/>
            </a:pPr>
            <a:r>
              <a:rPr lang="en-US" sz="1050" dirty="0">
                <a:solidFill>
                  <a:srgbClr val="7C8A86"/>
                </a:solidFill>
                <a:latin typeface="Calibri" pitchFamily="34" charset="0"/>
                <a:ea typeface="Calibri" pitchFamily="34" charset="-122"/>
                <a:cs typeface="Calibri" pitchFamily="34" charset="-120"/>
              </a:rPr>
              <a:t>Salt-okunur erişim token'ı alınır</a:t>
            </a:r>
            <a:endParaRPr lang="en-US" sz="1050" dirty="0"/>
          </a:p>
        </p:txBody>
      </p:sp>
      <p:pic>
        <p:nvPicPr>
          <p:cNvPr id="14" name="Image 1" descr="preencoded.png">    </p:cNvPr>
          <p:cNvPicPr>
            <a:picLocks noChangeAspect="1"/>
          </p:cNvPicPr>
          <p:nvPr/>
        </p:nvPicPr>
        <p:blipFill>
          <a:blip r:embed="rId2"/>
          <a:stretch>
            <a:fillRect/>
          </a:stretch>
        </p:blipFill>
        <p:spPr>
          <a:xfrm>
            <a:off x="4837176" y="3461004"/>
            <a:ext cx="256032" cy="256032"/>
          </a:xfrm>
          <a:prstGeom prst="rect">
            <a:avLst/>
          </a:prstGeom>
        </p:spPr>
      </p:pic>
      <p:sp>
        <p:nvSpPr>
          <p:cNvPr id="15" name="Shape 11"/>
          <p:cNvSpPr/>
          <p:nvPr/>
        </p:nvSpPr>
        <p:spPr>
          <a:xfrm>
            <a:off x="5157216" y="2423160"/>
            <a:ext cx="1874520" cy="2331720"/>
          </a:xfrm>
          <a:prstGeom prst="rect">
            <a:avLst/>
          </a:prstGeom>
          <a:solidFill>
            <a:srgbClr val="FFFFFF"/>
          </a:solidFill>
          <a:ln/>
          <a:effectLst>
            <a:outerShdw sx="100000" sy="100000" kx="0" ky="0" algn="bl" rotWithShape="0" blurRad="88900" dist="25400" dir="5400000">
              <a:srgbClr val="000000">
                <a:alpha val="7000"/>
              </a:srgbClr>
            </a:outerShdw>
          </a:effectLst>
        </p:spPr>
      </p:sp>
      <p:sp>
        <p:nvSpPr>
          <p:cNvPr id="16" name="Text 12"/>
          <p:cNvSpPr/>
          <p:nvPr/>
        </p:nvSpPr>
        <p:spPr>
          <a:xfrm>
            <a:off x="5340096" y="2606040"/>
            <a:ext cx="1508760" cy="365760"/>
          </a:xfrm>
          <a:prstGeom prst="rect">
            <a:avLst/>
          </a:prstGeom>
          <a:noFill/>
          <a:ln/>
        </p:spPr>
        <p:txBody>
          <a:bodyPr wrap="square" rtlCol="0" anchor="ctr"/>
          <a:lstStyle/>
          <a:p>
            <a:pPr indent="0" marL="0">
              <a:buNone/>
            </a:pPr>
            <a:r>
              <a:rPr lang="en-US" sz="1200" b="1" spc="100" kern="0" dirty="0">
                <a:solidFill>
                  <a:srgbClr val="B8862F"/>
                </a:solidFill>
                <a:latin typeface="Calibri" pitchFamily="34" charset="0"/>
                <a:ea typeface="Calibri" pitchFamily="34" charset="-122"/>
                <a:cs typeface="Calibri" pitchFamily="34" charset="-120"/>
              </a:rPr>
              <a:t>03</a:t>
            </a:r>
            <a:endParaRPr lang="en-US" sz="1200" dirty="0"/>
          </a:p>
        </p:txBody>
      </p:sp>
      <p:sp>
        <p:nvSpPr>
          <p:cNvPr id="17" name="Text 13"/>
          <p:cNvSpPr/>
          <p:nvPr/>
        </p:nvSpPr>
        <p:spPr>
          <a:xfrm>
            <a:off x="5340096" y="3017520"/>
            <a:ext cx="1508760" cy="777240"/>
          </a:xfrm>
          <a:prstGeom prst="rect">
            <a:avLst/>
          </a:prstGeom>
          <a:noFill/>
          <a:ln/>
        </p:spPr>
        <p:txBody>
          <a:bodyPr wrap="square" rtlCol="0" anchor="ctr"/>
          <a:lstStyle/>
          <a:p>
            <a:pPr indent="0" marL="0">
              <a:lnSpc>
                <a:spcPts val="1600"/>
              </a:lnSpc>
              <a:buNone/>
            </a:pPr>
            <a:r>
              <a:rPr lang="en-US" sz="1300" b="1" dirty="0">
                <a:solidFill>
                  <a:srgbClr val="16211F"/>
                </a:solidFill>
                <a:latin typeface="Calibri" pitchFamily="34" charset="0"/>
                <a:ea typeface="Calibri" pitchFamily="34" charset="-122"/>
                <a:cs typeface="Calibri" pitchFamily="34" charset="-120"/>
              </a:rPr>
              <a:t>Veri senkronizasyonu</a:t>
            </a:r>
            <a:endParaRPr lang="en-US" sz="1300" dirty="0"/>
          </a:p>
        </p:txBody>
      </p:sp>
      <p:sp>
        <p:nvSpPr>
          <p:cNvPr id="18" name="Text 14"/>
          <p:cNvSpPr/>
          <p:nvPr/>
        </p:nvSpPr>
        <p:spPr>
          <a:xfrm>
            <a:off x="5340096" y="3840480"/>
            <a:ext cx="1508760" cy="822960"/>
          </a:xfrm>
          <a:prstGeom prst="rect">
            <a:avLst/>
          </a:prstGeom>
          <a:noFill/>
          <a:ln/>
        </p:spPr>
        <p:txBody>
          <a:bodyPr wrap="square" rtlCol="0" anchor="ctr"/>
          <a:lstStyle/>
          <a:p>
            <a:pPr indent="0" marL="0">
              <a:lnSpc>
                <a:spcPts val="1300"/>
              </a:lnSpc>
              <a:buNone/>
            </a:pPr>
            <a:r>
              <a:rPr lang="en-US" sz="1050" dirty="0">
                <a:solidFill>
                  <a:srgbClr val="7C8A86"/>
                </a:solidFill>
                <a:latin typeface="Calibri" pitchFamily="34" charset="0"/>
                <a:ea typeface="Calibri" pitchFamily="34" charset="-122"/>
                <a:cs typeface="Calibri" pitchFamily="34" charset="-120"/>
              </a:rPr>
              <a:t>GraphQL API ile sipariş/ciro verisi çekilir</a:t>
            </a:r>
            <a:endParaRPr lang="en-US" sz="1050" dirty="0"/>
          </a:p>
        </p:txBody>
      </p:sp>
      <p:pic>
        <p:nvPicPr>
          <p:cNvPr id="19" name="Image 2" descr="preencoded.png">    </p:cNvPr>
          <p:cNvPicPr>
            <a:picLocks noChangeAspect="1"/>
          </p:cNvPicPr>
          <p:nvPr/>
        </p:nvPicPr>
        <p:blipFill>
          <a:blip r:embed="rId3"/>
          <a:stretch>
            <a:fillRect/>
          </a:stretch>
        </p:blipFill>
        <p:spPr>
          <a:xfrm>
            <a:off x="7095744" y="3461004"/>
            <a:ext cx="256032" cy="256032"/>
          </a:xfrm>
          <a:prstGeom prst="rect">
            <a:avLst/>
          </a:prstGeom>
        </p:spPr>
      </p:pic>
      <p:sp>
        <p:nvSpPr>
          <p:cNvPr id="20" name="Shape 15"/>
          <p:cNvSpPr/>
          <p:nvPr/>
        </p:nvSpPr>
        <p:spPr>
          <a:xfrm>
            <a:off x="7415784" y="2423160"/>
            <a:ext cx="1874520" cy="2331720"/>
          </a:xfrm>
          <a:prstGeom prst="rect">
            <a:avLst/>
          </a:prstGeom>
          <a:solidFill>
            <a:srgbClr val="1B3430"/>
          </a:solidFill>
          <a:ln/>
          <a:effectLst>
            <a:outerShdw sx="100000" sy="100000" kx="0" ky="0" algn="bl" rotWithShape="0" blurRad="88900" dist="25400" dir="5400000">
              <a:srgbClr val="000000">
                <a:alpha val="7000"/>
              </a:srgbClr>
            </a:outerShdw>
          </a:effectLst>
        </p:spPr>
      </p:sp>
      <p:sp>
        <p:nvSpPr>
          <p:cNvPr id="21" name="Text 16"/>
          <p:cNvSpPr/>
          <p:nvPr/>
        </p:nvSpPr>
        <p:spPr>
          <a:xfrm>
            <a:off x="7598664" y="2606040"/>
            <a:ext cx="1508760" cy="365760"/>
          </a:xfrm>
          <a:prstGeom prst="rect">
            <a:avLst/>
          </a:prstGeom>
          <a:noFill/>
          <a:ln/>
        </p:spPr>
        <p:txBody>
          <a:bodyPr wrap="square" rtlCol="0" anchor="ctr"/>
          <a:lstStyle/>
          <a:p>
            <a:pPr indent="0" marL="0">
              <a:buNone/>
            </a:pPr>
            <a:r>
              <a:rPr lang="en-US" sz="1200" b="1" spc="100" kern="0" dirty="0">
                <a:solidFill>
                  <a:srgbClr val="D7AE63"/>
                </a:solidFill>
                <a:latin typeface="Calibri" pitchFamily="34" charset="0"/>
                <a:ea typeface="Calibri" pitchFamily="34" charset="-122"/>
                <a:cs typeface="Calibri" pitchFamily="34" charset="-120"/>
              </a:rPr>
              <a:t>04</a:t>
            </a:r>
            <a:endParaRPr lang="en-US" sz="1200" dirty="0"/>
          </a:p>
        </p:txBody>
      </p:sp>
      <p:sp>
        <p:nvSpPr>
          <p:cNvPr id="22" name="Text 17"/>
          <p:cNvSpPr/>
          <p:nvPr/>
        </p:nvSpPr>
        <p:spPr>
          <a:xfrm>
            <a:off x="7598664" y="3017520"/>
            <a:ext cx="1508760" cy="777240"/>
          </a:xfrm>
          <a:prstGeom prst="rect">
            <a:avLst/>
          </a:prstGeom>
          <a:noFill/>
          <a:ln/>
        </p:spPr>
        <p:txBody>
          <a:bodyPr wrap="square" rtlCol="0" anchor="ctr"/>
          <a:lstStyle/>
          <a:p>
            <a:pPr indent="0" marL="0">
              <a:lnSpc>
                <a:spcPts val="1600"/>
              </a:lnSpc>
              <a:buNone/>
            </a:pPr>
            <a:r>
              <a:rPr lang="en-US" sz="1300" b="1" dirty="0">
                <a:solidFill>
                  <a:srgbClr val="F1F3EF"/>
                </a:solidFill>
                <a:latin typeface="Calibri" pitchFamily="34" charset="0"/>
                <a:ea typeface="Calibri" pitchFamily="34" charset="-122"/>
                <a:cs typeface="Calibri" pitchFamily="34" charset="-120"/>
              </a:rPr>
              <a:t>Eşleştirme + bütçe motoru</a:t>
            </a:r>
            <a:endParaRPr lang="en-US" sz="1300" dirty="0"/>
          </a:p>
        </p:txBody>
      </p:sp>
      <p:sp>
        <p:nvSpPr>
          <p:cNvPr id="23" name="Text 18"/>
          <p:cNvSpPr/>
          <p:nvPr/>
        </p:nvSpPr>
        <p:spPr>
          <a:xfrm>
            <a:off x="7598664" y="3840480"/>
            <a:ext cx="1508760" cy="822960"/>
          </a:xfrm>
          <a:prstGeom prst="rect">
            <a:avLst/>
          </a:prstGeom>
          <a:noFill/>
          <a:ln/>
        </p:spPr>
        <p:txBody>
          <a:bodyPr wrap="square" rtlCol="0" anchor="ctr"/>
          <a:lstStyle/>
          <a:p>
            <a:pPr indent="0" marL="0">
              <a:lnSpc>
                <a:spcPts val="1300"/>
              </a:lnSpc>
              <a:buNone/>
            </a:pPr>
            <a:r>
              <a:rPr lang="en-US" sz="1050" dirty="0">
                <a:solidFill>
                  <a:srgbClr val="C9D2CC"/>
                </a:solidFill>
                <a:latin typeface="Calibri" pitchFamily="34" charset="0"/>
                <a:ea typeface="Calibri" pitchFamily="34" charset="-122"/>
                <a:cs typeface="Calibri" pitchFamily="34" charset="-120"/>
              </a:rPr>
              <a:t>Çalışan motorumuz öneriyi hesaplar</a:t>
            </a:r>
            <a:endParaRPr lang="en-US" sz="1050" dirty="0"/>
          </a:p>
        </p:txBody>
      </p:sp>
      <p:pic>
        <p:nvPicPr>
          <p:cNvPr id="24" name="Image 3" descr="preencoded.png">    </p:cNvPr>
          <p:cNvPicPr>
            <a:picLocks noChangeAspect="1"/>
          </p:cNvPicPr>
          <p:nvPr/>
        </p:nvPicPr>
        <p:blipFill>
          <a:blip r:embed="rId4"/>
          <a:stretch>
            <a:fillRect/>
          </a:stretch>
        </p:blipFill>
        <p:spPr>
          <a:xfrm>
            <a:off x="9354312" y="3461004"/>
            <a:ext cx="256032" cy="256032"/>
          </a:xfrm>
          <a:prstGeom prst="rect">
            <a:avLst/>
          </a:prstGeom>
        </p:spPr>
      </p:pic>
      <p:sp>
        <p:nvSpPr>
          <p:cNvPr id="25" name="Shape 19"/>
          <p:cNvSpPr/>
          <p:nvPr/>
        </p:nvSpPr>
        <p:spPr>
          <a:xfrm>
            <a:off x="9674352" y="2423160"/>
            <a:ext cx="1874520" cy="2331720"/>
          </a:xfrm>
          <a:prstGeom prst="rect">
            <a:avLst/>
          </a:prstGeom>
          <a:solidFill>
            <a:srgbClr val="FFFFFF"/>
          </a:solidFill>
          <a:ln/>
          <a:effectLst>
            <a:outerShdw sx="100000" sy="100000" kx="0" ky="0" algn="bl" rotWithShape="0" blurRad="88900" dist="25400" dir="5400000">
              <a:srgbClr val="000000">
                <a:alpha val="7000"/>
              </a:srgbClr>
            </a:outerShdw>
          </a:effectLst>
        </p:spPr>
      </p:sp>
      <p:sp>
        <p:nvSpPr>
          <p:cNvPr id="26" name="Text 20"/>
          <p:cNvSpPr/>
          <p:nvPr/>
        </p:nvSpPr>
        <p:spPr>
          <a:xfrm>
            <a:off x="9857232" y="2606040"/>
            <a:ext cx="1508760" cy="365760"/>
          </a:xfrm>
          <a:prstGeom prst="rect">
            <a:avLst/>
          </a:prstGeom>
          <a:noFill/>
          <a:ln/>
        </p:spPr>
        <p:txBody>
          <a:bodyPr wrap="square" rtlCol="0" anchor="ctr"/>
          <a:lstStyle/>
          <a:p>
            <a:pPr indent="0" marL="0">
              <a:buNone/>
            </a:pPr>
            <a:r>
              <a:rPr lang="en-US" sz="1200" b="1" spc="100" kern="0" dirty="0">
                <a:solidFill>
                  <a:srgbClr val="B8862F"/>
                </a:solidFill>
                <a:latin typeface="Calibri" pitchFamily="34" charset="0"/>
                <a:ea typeface="Calibri" pitchFamily="34" charset="-122"/>
                <a:cs typeface="Calibri" pitchFamily="34" charset="-120"/>
              </a:rPr>
              <a:t>05</a:t>
            </a:r>
            <a:endParaRPr lang="en-US" sz="1200" dirty="0"/>
          </a:p>
        </p:txBody>
      </p:sp>
      <p:sp>
        <p:nvSpPr>
          <p:cNvPr id="27" name="Text 21"/>
          <p:cNvSpPr/>
          <p:nvPr/>
        </p:nvSpPr>
        <p:spPr>
          <a:xfrm>
            <a:off x="9857232" y="3017520"/>
            <a:ext cx="1508760" cy="777240"/>
          </a:xfrm>
          <a:prstGeom prst="rect">
            <a:avLst/>
          </a:prstGeom>
          <a:noFill/>
          <a:ln/>
        </p:spPr>
        <p:txBody>
          <a:bodyPr wrap="square" rtlCol="0" anchor="ctr"/>
          <a:lstStyle/>
          <a:p>
            <a:pPr indent="0" marL="0">
              <a:lnSpc>
                <a:spcPts val="1600"/>
              </a:lnSpc>
              <a:buNone/>
            </a:pPr>
            <a:r>
              <a:rPr lang="en-US" sz="1300" b="1" dirty="0">
                <a:solidFill>
                  <a:srgbClr val="16211F"/>
                </a:solidFill>
                <a:latin typeface="Calibri" pitchFamily="34" charset="0"/>
                <a:ea typeface="Calibri" pitchFamily="34" charset="-122"/>
                <a:cs typeface="Calibri" pitchFamily="34" charset="-120"/>
              </a:rPr>
              <a:t>İKAS panelinde gösterim</a:t>
            </a:r>
            <a:endParaRPr lang="en-US" sz="1300" dirty="0"/>
          </a:p>
        </p:txBody>
      </p:sp>
      <p:sp>
        <p:nvSpPr>
          <p:cNvPr id="28" name="Text 22"/>
          <p:cNvSpPr/>
          <p:nvPr/>
        </p:nvSpPr>
        <p:spPr>
          <a:xfrm>
            <a:off x="9857232" y="3840480"/>
            <a:ext cx="1508760" cy="822960"/>
          </a:xfrm>
          <a:prstGeom prst="rect">
            <a:avLst/>
          </a:prstGeom>
          <a:noFill/>
          <a:ln/>
        </p:spPr>
        <p:txBody>
          <a:bodyPr wrap="square" rtlCol="0" anchor="ctr"/>
          <a:lstStyle/>
          <a:p>
            <a:pPr indent="0" marL="0">
              <a:lnSpc>
                <a:spcPts val="1300"/>
              </a:lnSpc>
              <a:buNone/>
            </a:pPr>
            <a:r>
              <a:rPr lang="en-US" sz="1050" dirty="0">
                <a:solidFill>
                  <a:srgbClr val="7C8A86"/>
                </a:solidFill>
                <a:latin typeface="Calibri" pitchFamily="34" charset="0"/>
                <a:ea typeface="Calibri" pitchFamily="34" charset="-122"/>
                <a:cs typeface="Calibri" pitchFamily="34" charset="-120"/>
              </a:rPr>
              <a:t>Sonuç, admin panelinde gömülü ekranda görünür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50" b="1" spc="200" kern="0" dirty="0">
                <a:solidFill>
                  <a:srgbClr val="B8862F"/>
                </a:solidFill>
                <a:latin typeface="Calibri" pitchFamily="34" charset="0"/>
                <a:ea typeface="Calibri" pitchFamily="34" charset="-122"/>
                <a:cs typeface="Calibri" pitchFamily="34" charset="-120"/>
              </a:rPr>
              <a:t>BUGÜN NE ÇALIŞIYOR</a:t>
            </a:r>
            <a:endParaRPr lang="en-US" sz="12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indent="0" marL="0">
              <a:buNone/>
            </a:pPr>
            <a:r>
              <a:rPr lang="en-US" sz="3000" b="1" dirty="0">
                <a:solidFill>
                  <a:srgbClr val="16211F"/>
                </a:solidFill>
                <a:latin typeface="Bookman Old Style" pitchFamily="34" charset="0"/>
                <a:ea typeface="Bookman Old Style" pitchFamily="34" charset="-122"/>
                <a:cs typeface="Bookman Old Style" pitchFamily="34" charset="-120"/>
              </a:rPr>
              <a:t>Motor zaten üretimde çalışıyor</a:t>
            </a:r>
            <a:endParaRPr lang="en-US" sz="3000" dirty="0"/>
          </a:p>
        </p:txBody>
      </p:sp>
      <p:sp>
        <p:nvSpPr>
          <p:cNvPr id="4" name="Text 2"/>
          <p:cNvSpPr/>
          <p:nvPr/>
        </p:nvSpPr>
        <p:spPr>
          <a:xfrm>
            <a:off x="640080" y="1600200"/>
            <a:ext cx="5577840" cy="914400"/>
          </a:xfrm>
          <a:prstGeom prst="rect">
            <a:avLst/>
          </a:prstGeom>
          <a:noFill/>
          <a:ln/>
        </p:spPr>
        <p:txBody>
          <a:bodyPr wrap="square" rtlCol="0" anchor="ctr"/>
          <a:lstStyle/>
          <a:p>
            <a:pPr indent="0" marL="0">
              <a:lnSpc>
                <a:spcPts val="1900"/>
              </a:lnSpc>
              <a:buNone/>
            </a:pPr>
            <a:r>
              <a:rPr lang="en-US" sz="1350" dirty="0">
                <a:solidFill>
                  <a:srgbClr val="4B5B57"/>
                </a:solidFill>
                <a:latin typeface="Calibri" pitchFamily="34" charset="0"/>
                <a:ea typeface="Calibri" pitchFamily="34" charset="-122"/>
                <a:cs typeface="Calibri" pitchFamily="34" charset="-120"/>
              </a:rPr>
              <a:t>210 teşvik kaydı, canlı TCMB/TÜİK verisi ve sektör bazlı bütçe hesaplaması dahil — şu an manuel profil girişiyle test ediliyor. İKAS entegrasyonu yalnızca bu motorun veri girdisini otomatikleştirecek.</a:t>
            </a:r>
            <a:endParaRPr lang="en-US" sz="1350" dirty="0"/>
          </a:p>
        </p:txBody>
      </p:sp>
      <p:sp>
        <p:nvSpPr>
          <p:cNvPr id="5" name="Shape 3"/>
          <p:cNvSpPr/>
          <p:nvPr/>
        </p:nvSpPr>
        <p:spPr>
          <a:xfrm>
            <a:off x="640080" y="2788920"/>
            <a:ext cx="5577840" cy="1051560"/>
          </a:xfrm>
          <a:prstGeom prst="rect">
            <a:avLst/>
          </a:prstGeom>
          <a:solidFill>
            <a:srgbClr val="FFFFFF"/>
          </a:solidFill>
          <a:ln/>
          <a:effectLst>
            <a:outerShdw sx="100000" sy="100000" kx="0" ky="0" algn="bl" rotWithShape="0" blurRad="76200" dist="25400" dir="5400000">
              <a:srgbClr val="000000">
                <a:alpha val="6000"/>
              </a:srgbClr>
            </a:outerShdw>
          </a:effectLst>
        </p:spPr>
      </p:sp>
      <p:pic>
        <p:nvPicPr>
          <p:cNvPr id="6" name="Image 0" descr="preencoded.png">    </p:cNvPr>
          <p:cNvPicPr>
            <a:picLocks noChangeAspect="1"/>
          </p:cNvPicPr>
          <p:nvPr/>
        </p:nvPicPr>
        <p:blipFill>
          <a:blip r:embed="rId1"/>
          <a:stretch>
            <a:fillRect/>
          </a:stretch>
        </p:blipFill>
        <p:spPr>
          <a:xfrm>
            <a:off x="896112" y="3095244"/>
            <a:ext cx="438912" cy="438912"/>
          </a:xfrm>
          <a:prstGeom prst="rect">
            <a:avLst/>
          </a:prstGeom>
        </p:spPr>
      </p:pic>
      <p:sp>
        <p:nvSpPr>
          <p:cNvPr id="7" name="Text 4"/>
          <p:cNvSpPr/>
          <p:nvPr/>
        </p:nvSpPr>
        <p:spPr>
          <a:xfrm>
            <a:off x="1554480" y="2916936"/>
            <a:ext cx="4389120" cy="384048"/>
          </a:xfrm>
          <a:prstGeom prst="rect">
            <a:avLst/>
          </a:prstGeom>
          <a:noFill/>
          <a:ln/>
        </p:spPr>
        <p:txBody>
          <a:bodyPr wrap="square" lIns="0" tIns="0" rIns="0" bIns="0" rtlCol="0" anchor="ctr"/>
          <a:lstStyle/>
          <a:p>
            <a:pPr indent="0" marL="0">
              <a:buNone/>
            </a:pPr>
            <a:r>
              <a:rPr lang="en-US" sz="1900" b="1" dirty="0">
                <a:solidFill>
                  <a:srgbClr val="2F5E5B"/>
                </a:solidFill>
                <a:latin typeface="Bookman Old Style" pitchFamily="34" charset="0"/>
                <a:ea typeface="Bookman Old Style" pitchFamily="34" charset="-122"/>
                <a:cs typeface="Bookman Old Style" pitchFamily="34" charset="-120"/>
              </a:rPr>
              <a:t>10 destek</a:t>
            </a:r>
            <a:endParaRPr lang="en-US" sz="1900" dirty="0"/>
          </a:p>
        </p:txBody>
      </p:sp>
      <p:sp>
        <p:nvSpPr>
          <p:cNvPr id="8" name="Text 5"/>
          <p:cNvSpPr/>
          <p:nvPr/>
        </p:nvSpPr>
        <p:spPr>
          <a:xfrm>
            <a:off x="1554480" y="3300984"/>
            <a:ext cx="4389120" cy="457200"/>
          </a:xfrm>
          <a:prstGeom prst="rect">
            <a:avLst/>
          </a:prstGeom>
          <a:noFill/>
          <a:ln/>
        </p:spPr>
        <p:txBody>
          <a:bodyPr wrap="square" rtlCol="0" anchor="ctr"/>
          <a:lstStyle/>
          <a:p>
            <a:pPr indent="0" marL="0">
              <a:lnSpc>
                <a:spcPts val="1400"/>
              </a:lnSpc>
              <a:buNone/>
            </a:pPr>
            <a:r>
              <a:rPr lang="en-US" sz="1100" dirty="0">
                <a:solidFill>
                  <a:srgbClr val="7C8A86"/>
                </a:solidFill>
                <a:latin typeface="Calibri" pitchFamily="34" charset="0"/>
                <a:ea typeface="Calibri" pitchFamily="34" charset="-122"/>
                <a:cs typeface="Calibri" pitchFamily="34" charset="-120"/>
              </a:rPr>
              <a:t>Profile uygun, gerekçeli teşvik eşleşmesi</a:t>
            </a:r>
            <a:endParaRPr lang="en-US" sz="1100" dirty="0"/>
          </a:p>
        </p:txBody>
      </p:sp>
      <p:sp>
        <p:nvSpPr>
          <p:cNvPr id="9" name="Shape 6"/>
          <p:cNvSpPr/>
          <p:nvPr/>
        </p:nvSpPr>
        <p:spPr>
          <a:xfrm>
            <a:off x="640080" y="3977640"/>
            <a:ext cx="5577840" cy="1051560"/>
          </a:xfrm>
          <a:prstGeom prst="rect">
            <a:avLst/>
          </a:prstGeom>
          <a:solidFill>
            <a:srgbClr val="FFFFFF"/>
          </a:solidFill>
          <a:ln/>
          <a:effectLst>
            <a:outerShdw sx="100000" sy="100000" kx="0" ky="0" algn="bl" rotWithShape="0" blurRad="76200" dist="25400" dir="5400000">
              <a:srgbClr val="000000">
                <a:alpha val="6000"/>
              </a:srgbClr>
            </a:outerShdw>
          </a:effectLst>
        </p:spPr>
      </p:sp>
      <p:pic>
        <p:nvPicPr>
          <p:cNvPr id="10" name="Image 1" descr="preencoded.png">    </p:cNvPr>
          <p:cNvPicPr>
            <a:picLocks noChangeAspect="1"/>
          </p:cNvPicPr>
          <p:nvPr/>
        </p:nvPicPr>
        <p:blipFill>
          <a:blip r:embed="rId2"/>
          <a:stretch>
            <a:fillRect/>
          </a:stretch>
        </p:blipFill>
        <p:spPr>
          <a:xfrm>
            <a:off x="896112" y="4283964"/>
            <a:ext cx="438912" cy="438912"/>
          </a:xfrm>
          <a:prstGeom prst="rect">
            <a:avLst/>
          </a:prstGeom>
        </p:spPr>
      </p:pic>
      <p:sp>
        <p:nvSpPr>
          <p:cNvPr id="11" name="Text 7"/>
          <p:cNvSpPr/>
          <p:nvPr/>
        </p:nvSpPr>
        <p:spPr>
          <a:xfrm>
            <a:off x="1554480" y="4105656"/>
            <a:ext cx="4389120" cy="384048"/>
          </a:xfrm>
          <a:prstGeom prst="rect">
            <a:avLst/>
          </a:prstGeom>
          <a:noFill/>
          <a:ln/>
        </p:spPr>
        <p:txBody>
          <a:bodyPr wrap="square" lIns="0" tIns="0" rIns="0" bIns="0" rtlCol="0" anchor="ctr"/>
          <a:lstStyle/>
          <a:p>
            <a:pPr indent="0" marL="0">
              <a:buNone/>
            </a:pPr>
            <a:r>
              <a:rPr lang="en-US" sz="1900" b="1" dirty="0">
                <a:solidFill>
                  <a:srgbClr val="2F5E5B"/>
                </a:solidFill>
                <a:latin typeface="Bookman Old Style" pitchFamily="34" charset="0"/>
                <a:ea typeface="Bookman Old Style" pitchFamily="34" charset="-122"/>
                <a:cs typeface="Bookman Old Style" pitchFamily="34" charset="-120"/>
              </a:rPr>
              <a:t>₺995K–₺1,35M</a:t>
            </a:r>
            <a:endParaRPr lang="en-US" sz="1900" dirty="0"/>
          </a:p>
        </p:txBody>
      </p:sp>
      <p:sp>
        <p:nvSpPr>
          <p:cNvPr id="12" name="Text 8"/>
          <p:cNvSpPr/>
          <p:nvPr/>
        </p:nvSpPr>
        <p:spPr>
          <a:xfrm>
            <a:off x="1554480" y="4489704"/>
            <a:ext cx="4389120" cy="457200"/>
          </a:xfrm>
          <a:prstGeom prst="rect">
            <a:avLst/>
          </a:prstGeom>
          <a:noFill/>
          <a:ln/>
        </p:spPr>
        <p:txBody>
          <a:bodyPr wrap="square" rtlCol="0" anchor="ctr"/>
          <a:lstStyle/>
          <a:p>
            <a:pPr indent="0" marL="0">
              <a:lnSpc>
                <a:spcPts val="1400"/>
              </a:lnSpc>
              <a:buNone/>
            </a:pPr>
            <a:r>
              <a:rPr lang="en-US" sz="1100" dirty="0">
                <a:solidFill>
                  <a:srgbClr val="7C8A86"/>
                </a:solidFill>
                <a:latin typeface="Calibri" pitchFamily="34" charset="0"/>
                <a:ea typeface="Calibri" pitchFamily="34" charset="-122"/>
                <a:cs typeface="Calibri" pitchFamily="34" charset="-120"/>
              </a:rPr>
              <a:t>Önerilen stok maliyeti aralığı (TCMB Sektör Bilançoları)</a:t>
            </a:r>
            <a:endParaRPr lang="en-US" sz="1100" dirty="0"/>
          </a:p>
        </p:txBody>
      </p:sp>
      <p:sp>
        <p:nvSpPr>
          <p:cNvPr id="13" name="Shape 9"/>
          <p:cNvSpPr/>
          <p:nvPr/>
        </p:nvSpPr>
        <p:spPr>
          <a:xfrm>
            <a:off x="640080" y="5166360"/>
            <a:ext cx="5577840" cy="1051560"/>
          </a:xfrm>
          <a:prstGeom prst="rect">
            <a:avLst/>
          </a:prstGeom>
          <a:solidFill>
            <a:srgbClr val="FFFFFF"/>
          </a:solidFill>
          <a:ln/>
          <a:effectLst>
            <a:outerShdw sx="100000" sy="100000" kx="0" ky="0" algn="bl" rotWithShape="0" blurRad="76200" dist="25400" dir="5400000">
              <a:srgbClr val="000000">
                <a:alpha val="6000"/>
              </a:srgbClr>
            </a:outerShdw>
          </a:effectLst>
        </p:spPr>
      </p:sp>
      <p:pic>
        <p:nvPicPr>
          <p:cNvPr id="14" name="Image 2" descr="preencoded.png">    </p:cNvPr>
          <p:cNvPicPr>
            <a:picLocks noChangeAspect="1"/>
          </p:cNvPicPr>
          <p:nvPr/>
        </p:nvPicPr>
        <p:blipFill>
          <a:blip r:embed="rId3"/>
          <a:stretch>
            <a:fillRect/>
          </a:stretch>
        </p:blipFill>
        <p:spPr>
          <a:xfrm>
            <a:off x="896112" y="5472684"/>
            <a:ext cx="438912" cy="438912"/>
          </a:xfrm>
          <a:prstGeom prst="rect">
            <a:avLst/>
          </a:prstGeom>
        </p:spPr>
      </p:pic>
      <p:sp>
        <p:nvSpPr>
          <p:cNvPr id="15" name="Text 10"/>
          <p:cNvSpPr/>
          <p:nvPr/>
        </p:nvSpPr>
        <p:spPr>
          <a:xfrm>
            <a:off x="1554480" y="5294376"/>
            <a:ext cx="4389120" cy="384048"/>
          </a:xfrm>
          <a:prstGeom prst="rect">
            <a:avLst/>
          </a:prstGeom>
          <a:noFill/>
          <a:ln/>
        </p:spPr>
        <p:txBody>
          <a:bodyPr wrap="square" lIns="0" tIns="0" rIns="0" bIns="0" rtlCol="0" anchor="ctr"/>
          <a:lstStyle/>
          <a:p>
            <a:pPr indent="0" marL="0">
              <a:buNone/>
            </a:pPr>
            <a:r>
              <a:rPr lang="en-US" sz="1900" b="1" dirty="0">
                <a:solidFill>
                  <a:srgbClr val="2F5E5B"/>
                </a:solidFill>
                <a:latin typeface="Bookman Old Style" pitchFamily="34" charset="0"/>
                <a:ea typeface="Bookman Old Style" pitchFamily="34" charset="-122"/>
                <a:cs typeface="Bookman Old Style" pitchFamily="34" charset="-120"/>
              </a:rPr>
              <a:t>%30,65 TÜFE</a:t>
            </a:r>
            <a:endParaRPr lang="en-US" sz="1900" dirty="0"/>
          </a:p>
        </p:txBody>
      </p:sp>
      <p:sp>
        <p:nvSpPr>
          <p:cNvPr id="16" name="Text 11"/>
          <p:cNvSpPr/>
          <p:nvPr/>
        </p:nvSpPr>
        <p:spPr>
          <a:xfrm>
            <a:off x="1554480" y="5678424"/>
            <a:ext cx="4389120" cy="457200"/>
          </a:xfrm>
          <a:prstGeom prst="rect">
            <a:avLst/>
          </a:prstGeom>
          <a:noFill/>
          <a:ln/>
        </p:spPr>
        <p:txBody>
          <a:bodyPr wrap="square" rtlCol="0" anchor="ctr"/>
          <a:lstStyle/>
          <a:p>
            <a:pPr indent="0" marL="0">
              <a:lnSpc>
                <a:spcPts val="1400"/>
              </a:lnSpc>
              <a:buNone/>
            </a:pPr>
            <a:r>
              <a:rPr lang="en-US" sz="1100" dirty="0">
                <a:solidFill>
                  <a:srgbClr val="7C8A86"/>
                </a:solidFill>
                <a:latin typeface="Calibri" pitchFamily="34" charset="0"/>
                <a:ea typeface="Calibri" pitchFamily="34" charset="-122"/>
                <a:cs typeface="Calibri" pitchFamily="34" charset="-120"/>
              </a:rPr>
              <a:t>Canlı TCMB/EVDS verisiyle hesaplanan yıllık enflasyon</a:t>
            </a:r>
            <a:endParaRPr lang="en-US" sz="1100" dirty="0"/>
          </a:p>
        </p:txBody>
      </p:sp>
      <p:sp>
        <p:nvSpPr>
          <p:cNvPr id="17" name="Shape 12"/>
          <p:cNvSpPr/>
          <p:nvPr/>
        </p:nvSpPr>
        <p:spPr>
          <a:xfrm>
            <a:off x="6537960" y="1600200"/>
            <a:ext cx="5029200" cy="4434840"/>
          </a:xfrm>
          <a:prstGeom prst="rect">
            <a:avLst/>
          </a:prstGeom>
          <a:solidFill>
            <a:srgbClr val="1B3430"/>
          </a:solidFill>
          <a:ln/>
          <a:effectLst>
            <a:outerShdw sx="100000" sy="100000" kx="0" ky="0" algn="bl" rotWithShape="0" blurRad="127000" dist="50800" dir="5400000">
              <a:srgbClr val="000000">
                <a:alpha val="12000"/>
              </a:srgbClr>
            </a:outerShdw>
          </a:effectLst>
        </p:spPr>
      </p:sp>
      <p:sp>
        <p:nvSpPr>
          <p:cNvPr id="18" name="Shape 13"/>
          <p:cNvSpPr/>
          <p:nvPr/>
        </p:nvSpPr>
        <p:spPr>
          <a:xfrm>
            <a:off x="6766560" y="1801368"/>
            <a:ext cx="91440" cy="91440"/>
          </a:xfrm>
          <a:prstGeom prst="ellipse">
            <a:avLst/>
          </a:prstGeom>
          <a:solidFill>
            <a:srgbClr val="D98686"/>
          </a:solidFill>
          <a:ln/>
        </p:spPr>
      </p:sp>
      <p:sp>
        <p:nvSpPr>
          <p:cNvPr id="19" name="Shape 14"/>
          <p:cNvSpPr/>
          <p:nvPr/>
        </p:nvSpPr>
        <p:spPr>
          <a:xfrm>
            <a:off x="6967728" y="1801368"/>
            <a:ext cx="91440" cy="91440"/>
          </a:xfrm>
          <a:prstGeom prst="ellipse">
            <a:avLst/>
          </a:prstGeom>
          <a:solidFill>
            <a:srgbClr val="E0C97F"/>
          </a:solidFill>
          <a:ln/>
        </p:spPr>
      </p:sp>
      <p:sp>
        <p:nvSpPr>
          <p:cNvPr id="20" name="Shape 15"/>
          <p:cNvSpPr/>
          <p:nvPr/>
        </p:nvSpPr>
        <p:spPr>
          <a:xfrm>
            <a:off x="7168896" y="1801368"/>
            <a:ext cx="91440" cy="91440"/>
          </a:xfrm>
          <a:prstGeom prst="ellipse">
            <a:avLst/>
          </a:prstGeom>
          <a:solidFill>
            <a:srgbClr val="8FC79A"/>
          </a:solidFill>
          <a:ln/>
        </p:spPr>
      </p:sp>
      <p:sp>
        <p:nvSpPr>
          <p:cNvPr id="21" name="Text 16"/>
          <p:cNvSpPr/>
          <p:nvPr/>
        </p:nvSpPr>
        <p:spPr>
          <a:xfrm>
            <a:off x="7543800" y="1728216"/>
            <a:ext cx="3749040" cy="274320"/>
          </a:xfrm>
          <a:prstGeom prst="rect">
            <a:avLst/>
          </a:prstGeom>
          <a:noFill/>
          <a:ln/>
        </p:spPr>
        <p:txBody>
          <a:bodyPr wrap="square" rtlCol="0" anchor="ctr"/>
          <a:lstStyle/>
          <a:p>
            <a:pPr indent="0" marL="0">
              <a:buNone/>
            </a:pPr>
            <a:r>
              <a:rPr lang="en-US" sz="950" dirty="0">
                <a:solidFill>
                  <a:srgbClr val="8FA39E"/>
                </a:solidFill>
                <a:latin typeface="Calibri" pitchFamily="34" charset="0"/>
                <a:ea typeface="Calibri" pitchFamily="34" charset="-122"/>
                <a:cs typeface="Calibri" pitchFamily="34" charset="-120"/>
              </a:rPr>
              <a:t>teşvikasistani.com/dashboard</a:t>
            </a:r>
            <a:endParaRPr lang="en-US" sz="950" dirty="0"/>
          </a:p>
        </p:txBody>
      </p:sp>
      <p:sp>
        <p:nvSpPr>
          <p:cNvPr id="22" name="Shape 17"/>
          <p:cNvSpPr/>
          <p:nvPr/>
        </p:nvSpPr>
        <p:spPr>
          <a:xfrm>
            <a:off x="6812280" y="2103120"/>
            <a:ext cx="4480560" cy="3657600"/>
          </a:xfrm>
          <a:prstGeom prst="rect">
            <a:avLst/>
          </a:prstGeom>
          <a:solidFill>
            <a:srgbClr val="F7F8F6"/>
          </a:solidFill>
          <a:ln/>
        </p:spPr>
      </p:sp>
      <p:sp>
        <p:nvSpPr>
          <p:cNvPr id="23" name="Text 18"/>
          <p:cNvSpPr/>
          <p:nvPr/>
        </p:nvSpPr>
        <p:spPr>
          <a:xfrm>
            <a:off x="7040880" y="2286000"/>
            <a:ext cx="4023360" cy="320040"/>
          </a:xfrm>
          <a:prstGeom prst="rect">
            <a:avLst/>
          </a:prstGeom>
          <a:noFill/>
          <a:ln/>
        </p:spPr>
        <p:txBody>
          <a:bodyPr wrap="square" lIns="0" tIns="0" rIns="0" bIns="0" rtlCol="0" anchor="ctr"/>
          <a:lstStyle/>
          <a:p>
            <a:pPr indent="0" marL="0">
              <a:buNone/>
            </a:pPr>
            <a:r>
              <a:rPr lang="en-US" sz="1400" b="1" dirty="0">
                <a:solidFill>
                  <a:srgbClr val="16211F"/>
                </a:solidFill>
                <a:latin typeface="Calibri" pitchFamily="34" charset="0"/>
                <a:ea typeface="Calibri" pitchFamily="34" charset="-122"/>
                <a:cs typeface="Calibri" pitchFamily="34" charset="-120"/>
              </a:rPr>
              <a:t>Size Uygun Destekler</a:t>
            </a:r>
            <a:endParaRPr lang="en-US" sz="1400" dirty="0"/>
          </a:p>
        </p:txBody>
      </p:sp>
      <p:sp>
        <p:nvSpPr>
          <p:cNvPr id="24" name="Shape 19"/>
          <p:cNvSpPr/>
          <p:nvPr/>
        </p:nvSpPr>
        <p:spPr>
          <a:xfrm>
            <a:off x="7040880" y="2697480"/>
            <a:ext cx="4023360" cy="1371600"/>
          </a:xfrm>
          <a:prstGeom prst="rect">
            <a:avLst/>
          </a:prstGeom>
          <a:solidFill>
            <a:srgbClr val="FFFFFF"/>
          </a:solidFill>
          <a:ln w="25400">
            <a:solidFill>
              <a:srgbClr val="2F5E5B"/>
            </a:solidFill>
            <a:prstDash val="solid"/>
          </a:ln>
        </p:spPr>
      </p:sp>
      <p:sp>
        <p:nvSpPr>
          <p:cNvPr id="25" name="Text 20"/>
          <p:cNvSpPr/>
          <p:nvPr/>
        </p:nvSpPr>
        <p:spPr>
          <a:xfrm>
            <a:off x="7223760" y="2834640"/>
            <a:ext cx="3657600" cy="256032"/>
          </a:xfrm>
          <a:prstGeom prst="rect">
            <a:avLst/>
          </a:prstGeom>
          <a:noFill/>
          <a:ln/>
        </p:spPr>
        <p:txBody>
          <a:bodyPr wrap="square" rtlCol="0" anchor="ctr"/>
          <a:lstStyle/>
          <a:p>
            <a:pPr indent="0" marL="0">
              <a:buNone/>
            </a:pPr>
            <a:r>
              <a:rPr lang="en-US" sz="1000" b="1" spc="50" kern="0" dirty="0">
                <a:solidFill>
                  <a:srgbClr val="2F5E5B"/>
                </a:solidFill>
                <a:latin typeface="Calibri" pitchFamily="34" charset="0"/>
                <a:ea typeface="Calibri" pitchFamily="34" charset="-122"/>
                <a:cs typeface="Calibri" pitchFamily="34" charset="-120"/>
              </a:rPr>
              <a:t>TARIM BAKANLIĞI  ·  SKOR: %70</a:t>
            </a:r>
            <a:endParaRPr lang="en-US" sz="1000" dirty="0"/>
          </a:p>
        </p:txBody>
      </p:sp>
      <p:sp>
        <p:nvSpPr>
          <p:cNvPr id="26" name="Text 21"/>
          <p:cNvSpPr/>
          <p:nvPr/>
        </p:nvSpPr>
        <p:spPr>
          <a:xfrm>
            <a:off x="7223760" y="3090672"/>
            <a:ext cx="3657600" cy="365760"/>
          </a:xfrm>
          <a:prstGeom prst="rect">
            <a:avLst/>
          </a:prstGeom>
          <a:noFill/>
          <a:ln/>
        </p:spPr>
        <p:txBody>
          <a:bodyPr wrap="square" lIns="0" tIns="0" rIns="0" bIns="0" rtlCol="0" anchor="ctr"/>
          <a:lstStyle/>
          <a:p>
            <a:pPr indent="0" marL="0">
              <a:buNone/>
            </a:pPr>
            <a:r>
              <a:rPr lang="en-US" sz="1300" b="1" dirty="0">
                <a:solidFill>
                  <a:srgbClr val="16211F"/>
                </a:solidFill>
                <a:latin typeface="Calibri" pitchFamily="34" charset="0"/>
                <a:ea typeface="Calibri" pitchFamily="34" charset="-122"/>
                <a:cs typeface="Calibri" pitchFamily="34" charset="-120"/>
              </a:rPr>
              <a:t>Tarımsal Araştırma Projeleri Destekleme</a:t>
            </a:r>
            <a:endParaRPr lang="en-US" sz="1300" dirty="0"/>
          </a:p>
        </p:txBody>
      </p:sp>
      <p:sp>
        <p:nvSpPr>
          <p:cNvPr id="27" name="Text 22"/>
          <p:cNvSpPr/>
          <p:nvPr/>
        </p:nvSpPr>
        <p:spPr>
          <a:xfrm>
            <a:off x="7223760" y="3474720"/>
            <a:ext cx="3657600" cy="502920"/>
          </a:xfrm>
          <a:prstGeom prst="rect">
            <a:avLst/>
          </a:prstGeom>
          <a:noFill/>
          <a:ln/>
        </p:spPr>
        <p:txBody>
          <a:bodyPr wrap="square" rtlCol="0" anchor="ctr"/>
          <a:lstStyle/>
          <a:p>
            <a:pPr indent="0" marL="0">
              <a:lnSpc>
                <a:spcPts val="1200"/>
              </a:lnSpc>
              <a:buNone/>
            </a:pPr>
            <a:r>
              <a:rPr lang="en-US" sz="950" dirty="0">
                <a:solidFill>
                  <a:srgbClr val="3E7A4A"/>
                </a:solidFill>
                <a:latin typeface="Calibri" pitchFamily="34" charset="0"/>
                <a:ea typeface="Calibri" pitchFamily="34" charset="-122"/>
                <a:cs typeface="Calibri" pitchFamily="34" charset="-120"/>
              </a:rPr>
              <a:t>✓ Sektörünüz (tarım) bu desteğin kapsamına uygun</a:t>
            </a:r>
            <a:endParaRPr lang="en-US" sz="950" dirty="0"/>
          </a:p>
        </p:txBody>
      </p:sp>
      <p:sp>
        <p:nvSpPr>
          <p:cNvPr id="28" name="Text 23"/>
          <p:cNvSpPr/>
          <p:nvPr/>
        </p:nvSpPr>
        <p:spPr>
          <a:xfrm>
            <a:off x="7040880" y="4297680"/>
            <a:ext cx="4023360" cy="292608"/>
          </a:xfrm>
          <a:prstGeom prst="rect">
            <a:avLst/>
          </a:prstGeom>
          <a:noFill/>
          <a:ln/>
        </p:spPr>
        <p:txBody>
          <a:bodyPr wrap="square" lIns="0" tIns="0" rIns="0" bIns="0" rtlCol="0" anchor="ctr"/>
          <a:lstStyle/>
          <a:p>
            <a:pPr indent="0" marL="0">
              <a:buNone/>
            </a:pPr>
            <a:r>
              <a:rPr lang="en-US" sz="1400" b="1" dirty="0">
                <a:solidFill>
                  <a:srgbClr val="16211F"/>
                </a:solidFill>
                <a:latin typeface="Calibri" pitchFamily="34" charset="0"/>
                <a:ea typeface="Calibri" pitchFamily="34" charset="-122"/>
                <a:cs typeface="Calibri" pitchFamily="34" charset="-120"/>
              </a:rPr>
              <a:t>Bütçe Önerisi</a:t>
            </a:r>
            <a:endParaRPr lang="en-US" sz="1400" dirty="0"/>
          </a:p>
        </p:txBody>
      </p:sp>
      <p:sp>
        <p:nvSpPr>
          <p:cNvPr id="29" name="Shape 24"/>
          <p:cNvSpPr/>
          <p:nvPr/>
        </p:nvSpPr>
        <p:spPr>
          <a:xfrm>
            <a:off x="7040880" y="4645152"/>
            <a:ext cx="1874520" cy="777240"/>
          </a:xfrm>
          <a:prstGeom prst="rect">
            <a:avLst/>
          </a:prstGeom>
          <a:solidFill>
            <a:srgbClr val="FFFFFF"/>
          </a:solidFill>
          <a:ln/>
        </p:spPr>
      </p:sp>
      <p:sp>
        <p:nvSpPr>
          <p:cNvPr id="30" name="Text 25"/>
          <p:cNvSpPr/>
          <p:nvPr/>
        </p:nvSpPr>
        <p:spPr>
          <a:xfrm>
            <a:off x="7178040" y="4736592"/>
            <a:ext cx="1600200" cy="274320"/>
          </a:xfrm>
          <a:prstGeom prst="rect">
            <a:avLst/>
          </a:prstGeom>
          <a:noFill/>
          <a:ln/>
        </p:spPr>
        <p:txBody>
          <a:bodyPr wrap="square" rtlCol="0" anchor="ctr"/>
          <a:lstStyle/>
          <a:p>
            <a:pPr indent="0" marL="0">
              <a:buNone/>
            </a:pPr>
            <a:r>
              <a:rPr lang="en-US" sz="850" b="1" dirty="0">
                <a:solidFill>
                  <a:srgbClr val="7C8A86"/>
                </a:solidFill>
                <a:latin typeface="Calibri" pitchFamily="34" charset="0"/>
                <a:ea typeface="Calibri" pitchFamily="34" charset="-122"/>
                <a:cs typeface="Calibri" pitchFamily="34" charset="-120"/>
              </a:rPr>
              <a:t>Önerilen Stok Maliyeti</a:t>
            </a:r>
            <a:endParaRPr lang="en-US" sz="850" dirty="0"/>
          </a:p>
        </p:txBody>
      </p:sp>
      <p:sp>
        <p:nvSpPr>
          <p:cNvPr id="31" name="Text 26"/>
          <p:cNvSpPr/>
          <p:nvPr/>
        </p:nvSpPr>
        <p:spPr>
          <a:xfrm>
            <a:off x="7178040" y="4992624"/>
            <a:ext cx="1600200" cy="365760"/>
          </a:xfrm>
          <a:prstGeom prst="rect">
            <a:avLst/>
          </a:prstGeom>
          <a:noFill/>
          <a:ln/>
        </p:spPr>
        <p:txBody>
          <a:bodyPr wrap="square" lIns="0" tIns="0" rIns="0" bIns="0" rtlCol="0" anchor="ctr"/>
          <a:lstStyle/>
          <a:p>
            <a:pPr indent="0" marL="0">
              <a:buNone/>
            </a:pPr>
            <a:r>
              <a:rPr lang="en-US" sz="1300" b="1" dirty="0">
                <a:solidFill>
                  <a:srgbClr val="2F5E5B"/>
                </a:solidFill>
                <a:latin typeface="Bookman Old Style" pitchFamily="34" charset="0"/>
                <a:ea typeface="Bookman Old Style" pitchFamily="34" charset="-122"/>
                <a:cs typeface="Bookman Old Style" pitchFamily="34" charset="-120"/>
              </a:rPr>
              <a:t>₺995K – ₺1.346K</a:t>
            </a:r>
            <a:endParaRPr lang="en-US" sz="1300" dirty="0"/>
          </a:p>
        </p:txBody>
      </p:sp>
      <p:sp>
        <p:nvSpPr>
          <p:cNvPr id="32" name="Shape 27"/>
          <p:cNvSpPr/>
          <p:nvPr/>
        </p:nvSpPr>
        <p:spPr>
          <a:xfrm>
            <a:off x="9189720" y="4645152"/>
            <a:ext cx="1874520" cy="777240"/>
          </a:xfrm>
          <a:prstGeom prst="rect">
            <a:avLst/>
          </a:prstGeom>
          <a:solidFill>
            <a:srgbClr val="FFFFFF"/>
          </a:solidFill>
          <a:ln/>
        </p:spPr>
      </p:sp>
      <p:sp>
        <p:nvSpPr>
          <p:cNvPr id="33" name="Text 28"/>
          <p:cNvSpPr/>
          <p:nvPr/>
        </p:nvSpPr>
        <p:spPr>
          <a:xfrm>
            <a:off x="9326880" y="4736592"/>
            <a:ext cx="1600200" cy="274320"/>
          </a:xfrm>
          <a:prstGeom prst="rect">
            <a:avLst/>
          </a:prstGeom>
          <a:noFill/>
          <a:ln/>
        </p:spPr>
        <p:txBody>
          <a:bodyPr wrap="square" rtlCol="0" anchor="ctr"/>
          <a:lstStyle/>
          <a:p>
            <a:pPr indent="0" marL="0">
              <a:buNone/>
            </a:pPr>
            <a:r>
              <a:rPr lang="en-US" sz="850" b="1" dirty="0">
                <a:solidFill>
                  <a:srgbClr val="7C8A86"/>
                </a:solidFill>
                <a:latin typeface="Calibri" pitchFamily="34" charset="0"/>
                <a:ea typeface="Calibri" pitchFamily="34" charset="-122"/>
                <a:cs typeface="Calibri" pitchFamily="34" charset="-120"/>
              </a:rPr>
              <a:t>Önerilen Reklam Bütçesi</a:t>
            </a:r>
            <a:endParaRPr lang="en-US" sz="850" dirty="0"/>
          </a:p>
        </p:txBody>
      </p:sp>
      <p:sp>
        <p:nvSpPr>
          <p:cNvPr id="34" name="Text 29"/>
          <p:cNvSpPr/>
          <p:nvPr/>
        </p:nvSpPr>
        <p:spPr>
          <a:xfrm>
            <a:off x="9326880" y="4992624"/>
            <a:ext cx="1600200" cy="365760"/>
          </a:xfrm>
          <a:prstGeom prst="rect">
            <a:avLst/>
          </a:prstGeom>
          <a:noFill/>
          <a:ln/>
        </p:spPr>
        <p:txBody>
          <a:bodyPr wrap="square" lIns="0" tIns="0" rIns="0" bIns="0" rtlCol="0" anchor="ctr"/>
          <a:lstStyle/>
          <a:p>
            <a:pPr indent="0" marL="0">
              <a:buNone/>
            </a:pPr>
            <a:r>
              <a:rPr lang="en-US" sz="1300" b="1" dirty="0">
                <a:solidFill>
                  <a:srgbClr val="2F5E5B"/>
                </a:solidFill>
                <a:latin typeface="Bookman Old Style" pitchFamily="34" charset="0"/>
                <a:ea typeface="Bookman Old Style" pitchFamily="34" charset="-122"/>
                <a:cs typeface="Bookman Old Style" pitchFamily="34" charset="-120"/>
              </a:rPr>
              <a:t>₺30K – ₺41K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50" b="1" spc="200" kern="0" dirty="0">
                <a:solidFill>
                  <a:srgbClr val="B8862F"/>
                </a:solidFill>
                <a:latin typeface="Calibri" pitchFamily="34" charset="0"/>
                <a:ea typeface="Calibri" pitchFamily="34" charset="-122"/>
                <a:cs typeface="Calibri" pitchFamily="34" charset="-120"/>
              </a:rPr>
              <a:t>YOL HARİTASI</a:t>
            </a:r>
            <a:endParaRPr lang="en-US" sz="12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indent="0" marL="0">
              <a:buNone/>
            </a:pPr>
            <a:r>
              <a:rPr lang="en-US" sz="3000" b="1" dirty="0">
                <a:solidFill>
                  <a:srgbClr val="16211F"/>
                </a:solidFill>
                <a:latin typeface="Bookman Old Style" pitchFamily="34" charset="0"/>
                <a:ea typeface="Bookman Old Style" pitchFamily="34" charset="-122"/>
                <a:cs typeface="Bookman Old Style" pitchFamily="34" charset="-120"/>
              </a:rPr>
              <a:t>Dört fazlık, ölçülebilir bir plan</a:t>
            </a:r>
            <a:endParaRPr lang="en-US" sz="3000" dirty="0"/>
          </a:p>
        </p:txBody>
      </p:sp>
      <p:sp>
        <p:nvSpPr>
          <p:cNvPr id="4" name="Shape 2"/>
          <p:cNvSpPr/>
          <p:nvPr/>
        </p:nvSpPr>
        <p:spPr>
          <a:xfrm>
            <a:off x="640080" y="1828800"/>
            <a:ext cx="10881360" cy="1078992"/>
          </a:xfrm>
          <a:prstGeom prst="rect">
            <a:avLst/>
          </a:prstGeom>
          <a:solidFill>
            <a:srgbClr val="FFFFFF"/>
          </a:solidFill>
          <a:ln/>
          <a:effectLst>
            <a:outerShdw sx="100000" sy="100000" kx="0" ky="0" algn="bl" rotWithShape="0" blurRad="76200" dist="25400" dir="5400000">
              <a:srgbClr val="000000">
                <a:alpha val="6000"/>
              </a:srgbClr>
            </a:outerShdw>
          </a:effectLst>
        </p:spPr>
      </p:sp>
      <p:sp>
        <p:nvSpPr>
          <p:cNvPr id="5" name="Text 3"/>
          <p:cNvSpPr/>
          <p:nvPr/>
        </p:nvSpPr>
        <p:spPr>
          <a:xfrm>
            <a:off x="914400" y="1828800"/>
            <a:ext cx="1005840" cy="1078992"/>
          </a:xfrm>
          <a:prstGeom prst="rect">
            <a:avLst/>
          </a:prstGeom>
          <a:noFill/>
          <a:ln/>
        </p:spPr>
        <p:txBody>
          <a:bodyPr wrap="square" rtlCol="0" anchor="ctr"/>
          <a:lstStyle/>
          <a:p>
            <a:pPr indent="0" marL="0">
              <a:buNone/>
            </a:pPr>
            <a:r>
              <a:rPr lang="en-US" sz="1250" b="1" spc="100" kern="0" dirty="0">
                <a:solidFill>
                  <a:srgbClr val="7C8A86"/>
                </a:solidFill>
                <a:latin typeface="Calibri" pitchFamily="34" charset="0"/>
                <a:ea typeface="Calibri" pitchFamily="34" charset="-122"/>
                <a:cs typeface="Calibri" pitchFamily="34" charset="-120"/>
              </a:rPr>
              <a:t>FAZ 0</a:t>
            </a:r>
            <a:endParaRPr lang="en-US" sz="1250" dirty="0"/>
          </a:p>
        </p:txBody>
      </p:sp>
      <p:sp>
        <p:nvSpPr>
          <p:cNvPr id="6" name="Text 4"/>
          <p:cNvSpPr/>
          <p:nvPr/>
        </p:nvSpPr>
        <p:spPr>
          <a:xfrm>
            <a:off x="2057400" y="1938528"/>
            <a:ext cx="6035040" cy="411480"/>
          </a:xfrm>
          <a:prstGeom prst="rect">
            <a:avLst/>
          </a:prstGeom>
          <a:noFill/>
          <a:ln/>
        </p:spPr>
        <p:txBody>
          <a:bodyPr wrap="square" lIns="0" tIns="0" rIns="0" bIns="0" rtlCol="0" anchor="ctr"/>
          <a:lstStyle/>
          <a:p>
            <a:pPr indent="0" marL="0">
              <a:buNone/>
            </a:pPr>
            <a:r>
              <a:rPr lang="en-US" sz="1500" b="1" dirty="0">
                <a:solidFill>
                  <a:srgbClr val="16211F"/>
                </a:solidFill>
                <a:latin typeface="Calibri" pitchFamily="34" charset="0"/>
                <a:ea typeface="Calibri" pitchFamily="34" charset="-122"/>
                <a:cs typeface="Calibri" pitchFamily="34" charset="-120"/>
              </a:rPr>
              <a:t>Çekirdek motor</a:t>
            </a:r>
            <a:endParaRPr lang="en-US" sz="1500" dirty="0"/>
          </a:p>
        </p:txBody>
      </p:sp>
      <p:sp>
        <p:nvSpPr>
          <p:cNvPr id="7" name="Text 5"/>
          <p:cNvSpPr/>
          <p:nvPr/>
        </p:nvSpPr>
        <p:spPr>
          <a:xfrm>
            <a:off x="2057400" y="2331720"/>
            <a:ext cx="6309360" cy="502920"/>
          </a:xfrm>
          <a:prstGeom prst="rect">
            <a:avLst/>
          </a:prstGeom>
          <a:noFill/>
          <a:ln/>
        </p:spPr>
        <p:txBody>
          <a:bodyPr wrap="square" rtlCol="0" anchor="ctr"/>
          <a:lstStyle/>
          <a:p>
            <a:pPr indent="0" marL="0">
              <a:lnSpc>
                <a:spcPts val="1400"/>
              </a:lnSpc>
              <a:buNone/>
            </a:pPr>
            <a:r>
              <a:rPr lang="en-US" sz="1150" dirty="0">
                <a:solidFill>
                  <a:srgbClr val="7C8A86"/>
                </a:solidFill>
                <a:latin typeface="Calibri" pitchFamily="34" charset="0"/>
                <a:ea typeface="Calibri" pitchFamily="34" charset="-122"/>
                <a:cs typeface="Calibri" pitchFamily="34" charset="-120"/>
              </a:rPr>
              <a:t>Teşvik eşleştirme, TÜİK/TCMB bütçe motoru, manuel girişle uçtan uca çalışan demo</a:t>
            </a:r>
            <a:endParaRPr lang="en-US" sz="1150" dirty="0"/>
          </a:p>
        </p:txBody>
      </p:sp>
      <p:sp>
        <p:nvSpPr>
          <p:cNvPr id="8" name="Shape 6"/>
          <p:cNvSpPr/>
          <p:nvPr/>
        </p:nvSpPr>
        <p:spPr>
          <a:xfrm>
            <a:off x="8732520" y="2167128"/>
            <a:ext cx="1828800" cy="402336"/>
          </a:xfrm>
          <a:prstGeom prst="roundRect">
            <a:avLst>
              <a:gd name="adj" fmla="val 18182"/>
            </a:avLst>
          </a:prstGeom>
          <a:solidFill>
            <a:srgbClr val="DEEBDD"/>
          </a:solidFill>
          <a:ln/>
        </p:spPr>
      </p:sp>
      <p:sp>
        <p:nvSpPr>
          <p:cNvPr id="9" name="Text 7"/>
          <p:cNvSpPr/>
          <p:nvPr/>
        </p:nvSpPr>
        <p:spPr>
          <a:xfrm>
            <a:off x="8732520" y="2167128"/>
            <a:ext cx="1828800" cy="402336"/>
          </a:xfrm>
          <a:prstGeom prst="rect">
            <a:avLst/>
          </a:prstGeom>
          <a:noFill/>
          <a:ln/>
        </p:spPr>
        <p:txBody>
          <a:bodyPr wrap="square" lIns="0" tIns="0" rIns="0" bIns="0" rtlCol="0" anchor="ctr"/>
          <a:lstStyle/>
          <a:p>
            <a:pPr algn="ctr" indent="0" marL="0">
              <a:buNone/>
            </a:pPr>
            <a:r>
              <a:rPr lang="en-US" sz="1150" b="1" dirty="0">
                <a:solidFill>
                  <a:srgbClr val="2C6B34"/>
                </a:solidFill>
                <a:latin typeface="Calibri" pitchFamily="34" charset="0"/>
                <a:ea typeface="Calibri" pitchFamily="34" charset="-122"/>
                <a:cs typeface="Calibri" pitchFamily="34" charset="-120"/>
              </a:rPr>
              <a:t>Tamamlandı</a:t>
            </a:r>
            <a:endParaRPr lang="en-US" sz="1150" dirty="0"/>
          </a:p>
        </p:txBody>
      </p:sp>
      <p:sp>
        <p:nvSpPr>
          <p:cNvPr id="10" name="Shape 8"/>
          <p:cNvSpPr/>
          <p:nvPr/>
        </p:nvSpPr>
        <p:spPr>
          <a:xfrm>
            <a:off x="640080" y="3072384"/>
            <a:ext cx="10881360" cy="1078992"/>
          </a:xfrm>
          <a:prstGeom prst="rect">
            <a:avLst/>
          </a:prstGeom>
          <a:solidFill>
            <a:srgbClr val="FFFFFF"/>
          </a:solidFill>
          <a:ln/>
          <a:effectLst>
            <a:outerShdw sx="100000" sy="100000" kx="0" ky="0" algn="bl" rotWithShape="0" blurRad="76200" dist="25400" dir="5400000">
              <a:srgbClr val="000000">
                <a:alpha val="6000"/>
              </a:srgbClr>
            </a:outerShdw>
          </a:effectLst>
        </p:spPr>
      </p:sp>
      <p:sp>
        <p:nvSpPr>
          <p:cNvPr id="11" name="Text 9"/>
          <p:cNvSpPr/>
          <p:nvPr/>
        </p:nvSpPr>
        <p:spPr>
          <a:xfrm>
            <a:off x="914400" y="3072384"/>
            <a:ext cx="1005840" cy="1078992"/>
          </a:xfrm>
          <a:prstGeom prst="rect">
            <a:avLst/>
          </a:prstGeom>
          <a:noFill/>
          <a:ln/>
        </p:spPr>
        <p:txBody>
          <a:bodyPr wrap="square" rtlCol="0" anchor="ctr"/>
          <a:lstStyle/>
          <a:p>
            <a:pPr indent="0" marL="0">
              <a:buNone/>
            </a:pPr>
            <a:r>
              <a:rPr lang="en-US" sz="1250" b="1" spc="100" kern="0" dirty="0">
                <a:solidFill>
                  <a:srgbClr val="7C8A86"/>
                </a:solidFill>
                <a:latin typeface="Calibri" pitchFamily="34" charset="0"/>
                <a:ea typeface="Calibri" pitchFamily="34" charset="-122"/>
                <a:cs typeface="Calibri" pitchFamily="34" charset="-120"/>
              </a:rPr>
              <a:t>FAZ 1</a:t>
            </a:r>
            <a:endParaRPr lang="en-US" sz="1250" dirty="0"/>
          </a:p>
        </p:txBody>
      </p:sp>
      <p:sp>
        <p:nvSpPr>
          <p:cNvPr id="12" name="Text 10"/>
          <p:cNvSpPr/>
          <p:nvPr/>
        </p:nvSpPr>
        <p:spPr>
          <a:xfrm>
            <a:off x="2057400" y="3182112"/>
            <a:ext cx="6035040" cy="411480"/>
          </a:xfrm>
          <a:prstGeom prst="rect">
            <a:avLst/>
          </a:prstGeom>
          <a:noFill/>
          <a:ln/>
        </p:spPr>
        <p:txBody>
          <a:bodyPr wrap="square" lIns="0" tIns="0" rIns="0" bIns="0" rtlCol="0" anchor="ctr"/>
          <a:lstStyle/>
          <a:p>
            <a:pPr indent="0" marL="0">
              <a:buNone/>
            </a:pPr>
            <a:r>
              <a:rPr lang="en-US" sz="1500" b="1" dirty="0">
                <a:solidFill>
                  <a:srgbClr val="16211F"/>
                </a:solidFill>
                <a:latin typeface="Calibri" pitchFamily="34" charset="0"/>
                <a:ea typeface="Calibri" pitchFamily="34" charset="-122"/>
                <a:cs typeface="Calibri" pitchFamily="34" charset="-120"/>
              </a:rPr>
              <a:t>İKAS bağlantı uygulaması</a:t>
            </a:r>
            <a:endParaRPr lang="en-US" sz="1500" dirty="0"/>
          </a:p>
        </p:txBody>
      </p:sp>
      <p:sp>
        <p:nvSpPr>
          <p:cNvPr id="13" name="Text 11"/>
          <p:cNvSpPr/>
          <p:nvPr/>
        </p:nvSpPr>
        <p:spPr>
          <a:xfrm>
            <a:off x="2057400" y="3575304"/>
            <a:ext cx="6309360" cy="502920"/>
          </a:xfrm>
          <a:prstGeom prst="rect">
            <a:avLst/>
          </a:prstGeom>
          <a:noFill/>
          <a:ln/>
        </p:spPr>
        <p:txBody>
          <a:bodyPr wrap="square" rtlCol="0" anchor="ctr"/>
          <a:lstStyle/>
          <a:p>
            <a:pPr indent="0" marL="0">
              <a:lnSpc>
                <a:spcPts val="1400"/>
              </a:lnSpc>
              <a:buNone/>
            </a:pPr>
            <a:r>
              <a:rPr lang="en-US" sz="1150" dirty="0">
                <a:solidFill>
                  <a:srgbClr val="7C8A86"/>
                </a:solidFill>
                <a:latin typeface="Calibri" pitchFamily="34" charset="0"/>
                <a:ea typeface="Calibri" pitchFamily="34" charset="-122"/>
                <a:cs typeface="Calibri" pitchFamily="34" charset="-120"/>
              </a:rPr>
              <a:t>OAuth2 authorize/callback, test mağazasında GraphQL ile sipariş verisi okuma</a:t>
            </a:r>
            <a:endParaRPr lang="en-US" sz="1150" dirty="0"/>
          </a:p>
        </p:txBody>
      </p:sp>
      <p:sp>
        <p:nvSpPr>
          <p:cNvPr id="14" name="Shape 12"/>
          <p:cNvSpPr/>
          <p:nvPr/>
        </p:nvSpPr>
        <p:spPr>
          <a:xfrm>
            <a:off x="8732520" y="3410712"/>
            <a:ext cx="1828800" cy="402336"/>
          </a:xfrm>
          <a:prstGeom prst="roundRect">
            <a:avLst>
              <a:gd name="adj" fmla="val 18182"/>
            </a:avLst>
          </a:prstGeom>
          <a:solidFill>
            <a:srgbClr val="F1E6CE"/>
          </a:solidFill>
          <a:ln/>
        </p:spPr>
      </p:sp>
      <p:sp>
        <p:nvSpPr>
          <p:cNvPr id="15" name="Text 13"/>
          <p:cNvSpPr/>
          <p:nvPr/>
        </p:nvSpPr>
        <p:spPr>
          <a:xfrm>
            <a:off x="8732520" y="3410712"/>
            <a:ext cx="1828800" cy="402336"/>
          </a:xfrm>
          <a:prstGeom prst="rect">
            <a:avLst/>
          </a:prstGeom>
          <a:noFill/>
          <a:ln/>
        </p:spPr>
        <p:txBody>
          <a:bodyPr wrap="square" lIns="0" tIns="0" rIns="0" bIns="0" rtlCol="0" anchor="ctr"/>
          <a:lstStyle/>
          <a:p>
            <a:pPr algn="ctr" indent="0" marL="0">
              <a:buNone/>
            </a:pPr>
            <a:r>
              <a:rPr lang="en-US" sz="1150" b="1" dirty="0">
                <a:solidFill>
                  <a:srgbClr val="8A611F"/>
                </a:solidFill>
                <a:latin typeface="Calibri" pitchFamily="34" charset="0"/>
                <a:ea typeface="Calibri" pitchFamily="34" charset="-122"/>
                <a:cs typeface="Calibri" pitchFamily="34" charset="-120"/>
              </a:rPr>
              <a:t>Planlanan</a:t>
            </a:r>
            <a:endParaRPr lang="en-US" sz="1150" dirty="0"/>
          </a:p>
        </p:txBody>
      </p:sp>
      <p:sp>
        <p:nvSpPr>
          <p:cNvPr id="16" name="Shape 14"/>
          <p:cNvSpPr/>
          <p:nvPr/>
        </p:nvSpPr>
        <p:spPr>
          <a:xfrm>
            <a:off x="640080" y="4315968"/>
            <a:ext cx="10881360" cy="1078992"/>
          </a:xfrm>
          <a:prstGeom prst="rect">
            <a:avLst/>
          </a:prstGeom>
          <a:solidFill>
            <a:srgbClr val="FFFFFF"/>
          </a:solidFill>
          <a:ln/>
          <a:effectLst>
            <a:outerShdw sx="100000" sy="100000" kx="0" ky="0" algn="bl" rotWithShape="0" blurRad="76200" dist="25400" dir="5400000">
              <a:srgbClr val="000000">
                <a:alpha val="6000"/>
              </a:srgbClr>
            </a:outerShdw>
          </a:effectLst>
        </p:spPr>
      </p:sp>
      <p:sp>
        <p:nvSpPr>
          <p:cNvPr id="17" name="Text 15"/>
          <p:cNvSpPr/>
          <p:nvPr/>
        </p:nvSpPr>
        <p:spPr>
          <a:xfrm>
            <a:off x="914400" y="4315968"/>
            <a:ext cx="1005840" cy="1078992"/>
          </a:xfrm>
          <a:prstGeom prst="rect">
            <a:avLst/>
          </a:prstGeom>
          <a:noFill/>
          <a:ln/>
        </p:spPr>
        <p:txBody>
          <a:bodyPr wrap="square" rtlCol="0" anchor="ctr"/>
          <a:lstStyle/>
          <a:p>
            <a:pPr indent="0" marL="0">
              <a:buNone/>
            </a:pPr>
            <a:r>
              <a:rPr lang="en-US" sz="1250" b="1" spc="100" kern="0" dirty="0">
                <a:solidFill>
                  <a:srgbClr val="7C8A86"/>
                </a:solidFill>
                <a:latin typeface="Calibri" pitchFamily="34" charset="0"/>
                <a:ea typeface="Calibri" pitchFamily="34" charset="-122"/>
                <a:cs typeface="Calibri" pitchFamily="34" charset="-120"/>
              </a:rPr>
              <a:t>FAZ 2</a:t>
            </a:r>
            <a:endParaRPr lang="en-US" sz="1250" dirty="0"/>
          </a:p>
        </p:txBody>
      </p:sp>
      <p:sp>
        <p:nvSpPr>
          <p:cNvPr id="18" name="Text 16"/>
          <p:cNvSpPr/>
          <p:nvPr/>
        </p:nvSpPr>
        <p:spPr>
          <a:xfrm>
            <a:off x="2057400" y="4425696"/>
            <a:ext cx="6035040" cy="411480"/>
          </a:xfrm>
          <a:prstGeom prst="rect">
            <a:avLst/>
          </a:prstGeom>
          <a:noFill/>
          <a:ln/>
        </p:spPr>
        <p:txBody>
          <a:bodyPr wrap="square" lIns="0" tIns="0" rIns="0" bIns="0" rtlCol="0" anchor="ctr"/>
          <a:lstStyle/>
          <a:p>
            <a:pPr indent="0" marL="0">
              <a:buNone/>
            </a:pPr>
            <a:r>
              <a:rPr lang="en-US" sz="1500" b="1" dirty="0">
                <a:solidFill>
                  <a:srgbClr val="16211F"/>
                </a:solidFill>
                <a:latin typeface="Calibri" pitchFamily="34" charset="0"/>
                <a:ea typeface="Calibri" pitchFamily="34" charset="-122"/>
                <a:cs typeface="Calibri" pitchFamily="34" charset="-120"/>
              </a:rPr>
              <a:t>Otomatik veri eşleme</a:t>
            </a:r>
            <a:endParaRPr lang="en-US" sz="1500" dirty="0"/>
          </a:p>
        </p:txBody>
      </p:sp>
      <p:sp>
        <p:nvSpPr>
          <p:cNvPr id="19" name="Text 17"/>
          <p:cNvSpPr/>
          <p:nvPr/>
        </p:nvSpPr>
        <p:spPr>
          <a:xfrm>
            <a:off x="2057400" y="4818888"/>
            <a:ext cx="6309360" cy="502920"/>
          </a:xfrm>
          <a:prstGeom prst="rect">
            <a:avLst/>
          </a:prstGeom>
          <a:noFill/>
          <a:ln/>
        </p:spPr>
        <p:txBody>
          <a:bodyPr wrap="square" rtlCol="0" anchor="ctr"/>
          <a:lstStyle/>
          <a:p>
            <a:pPr indent="0" marL="0">
              <a:lnSpc>
                <a:spcPts val="1400"/>
              </a:lnSpc>
              <a:buNone/>
            </a:pPr>
            <a:r>
              <a:rPr lang="en-US" sz="1150" dirty="0">
                <a:solidFill>
                  <a:srgbClr val="7C8A86"/>
                </a:solidFill>
                <a:latin typeface="Calibri" pitchFamily="34" charset="0"/>
                <a:ea typeface="Calibri" pitchFamily="34" charset="-122"/>
                <a:cs typeface="Calibri" pitchFamily="34" charset="-120"/>
              </a:rPr>
              <a:t>İKAS ciro/kategori verisinin profil alanlarına (sektör, ciro, gider) otomatik dönüşümü</a:t>
            </a:r>
            <a:endParaRPr lang="en-US" sz="1150" dirty="0"/>
          </a:p>
        </p:txBody>
      </p:sp>
      <p:sp>
        <p:nvSpPr>
          <p:cNvPr id="20" name="Shape 18"/>
          <p:cNvSpPr/>
          <p:nvPr/>
        </p:nvSpPr>
        <p:spPr>
          <a:xfrm>
            <a:off x="8732520" y="4654296"/>
            <a:ext cx="1828800" cy="402336"/>
          </a:xfrm>
          <a:prstGeom prst="roundRect">
            <a:avLst>
              <a:gd name="adj" fmla="val 18182"/>
            </a:avLst>
          </a:prstGeom>
          <a:solidFill>
            <a:srgbClr val="F1E6CE"/>
          </a:solidFill>
          <a:ln/>
        </p:spPr>
      </p:sp>
      <p:sp>
        <p:nvSpPr>
          <p:cNvPr id="21" name="Text 19"/>
          <p:cNvSpPr/>
          <p:nvPr/>
        </p:nvSpPr>
        <p:spPr>
          <a:xfrm>
            <a:off x="8732520" y="4654296"/>
            <a:ext cx="1828800" cy="402336"/>
          </a:xfrm>
          <a:prstGeom prst="rect">
            <a:avLst/>
          </a:prstGeom>
          <a:noFill/>
          <a:ln/>
        </p:spPr>
        <p:txBody>
          <a:bodyPr wrap="square" lIns="0" tIns="0" rIns="0" bIns="0" rtlCol="0" anchor="ctr"/>
          <a:lstStyle/>
          <a:p>
            <a:pPr algn="ctr" indent="0" marL="0">
              <a:buNone/>
            </a:pPr>
            <a:r>
              <a:rPr lang="en-US" sz="1150" b="1" dirty="0">
                <a:solidFill>
                  <a:srgbClr val="8A611F"/>
                </a:solidFill>
                <a:latin typeface="Calibri" pitchFamily="34" charset="0"/>
                <a:ea typeface="Calibri" pitchFamily="34" charset="-122"/>
                <a:cs typeface="Calibri" pitchFamily="34" charset="-120"/>
              </a:rPr>
              <a:t>Planlanan</a:t>
            </a:r>
            <a:endParaRPr lang="en-US" sz="1150" dirty="0"/>
          </a:p>
        </p:txBody>
      </p:sp>
      <p:sp>
        <p:nvSpPr>
          <p:cNvPr id="22" name="Shape 20"/>
          <p:cNvSpPr/>
          <p:nvPr/>
        </p:nvSpPr>
        <p:spPr>
          <a:xfrm>
            <a:off x="640080" y="5559552"/>
            <a:ext cx="10881360" cy="1078992"/>
          </a:xfrm>
          <a:prstGeom prst="rect">
            <a:avLst/>
          </a:prstGeom>
          <a:solidFill>
            <a:srgbClr val="FFFFFF"/>
          </a:solidFill>
          <a:ln/>
          <a:effectLst>
            <a:outerShdw sx="100000" sy="100000" kx="0" ky="0" algn="bl" rotWithShape="0" blurRad="76200" dist="25400" dir="5400000">
              <a:srgbClr val="000000">
                <a:alpha val="6000"/>
              </a:srgbClr>
            </a:outerShdw>
          </a:effectLst>
        </p:spPr>
      </p:sp>
      <p:sp>
        <p:nvSpPr>
          <p:cNvPr id="23" name="Text 21"/>
          <p:cNvSpPr/>
          <p:nvPr/>
        </p:nvSpPr>
        <p:spPr>
          <a:xfrm>
            <a:off x="914400" y="5559552"/>
            <a:ext cx="1005840" cy="1078992"/>
          </a:xfrm>
          <a:prstGeom prst="rect">
            <a:avLst/>
          </a:prstGeom>
          <a:noFill/>
          <a:ln/>
        </p:spPr>
        <p:txBody>
          <a:bodyPr wrap="square" rtlCol="0" anchor="ctr"/>
          <a:lstStyle/>
          <a:p>
            <a:pPr indent="0" marL="0">
              <a:buNone/>
            </a:pPr>
            <a:r>
              <a:rPr lang="en-US" sz="1250" b="1" spc="100" kern="0" dirty="0">
                <a:solidFill>
                  <a:srgbClr val="7C8A86"/>
                </a:solidFill>
                <a:latin typeface="Calibri" pitchFamily="34" charset="0"/>
                <a:ea typeface="Calibri" pitchFamily="34" charset="-122"/>
                <a:cs typeface="Calibri" pitchFamily="34" charset="-120"/>
              </a:rPr>
              <a:t>FAZ 3</a:t>
            </a:r>
            <a:endParaRPr lang="en-US" sz="1250" dirty="0"/>
          </a:p>
        </p:txBody>
      </p:sp>
      <p:sp>
        <p:nvSpPr>
          <p:cNvPr id="24" name="Text 22"/>
          <p:cNvSpPr/>
          <p:nvPr/>
        </p:nvSpPr>
        <p:spPr>
          <a:xfrm>
            <a:off x="2057400" y="5669280"/>
            <a:ext cx="6035040" cy="411480"/>
          </a:xfrm>
          <a:prstGeom prst="rect">
            <a:avLst/>
          </a:prstGeom>
          <a:noFill/>
          <a:ln/>
        </p:spPr>
        <p:txBody>
          <a:bodyPr wrap="square" lIns="0" tIns="0" rIns="0" bIns="0" rtlCol="0" anchor="ctr"/>
          <a:lstStyle/>
          <a:p>
            <a:pPr indent="0" marL="0">
              <a:buNone/>
            </a:pPr>
            <a:r>
              <a:rPr lang="en-US" sz="1500" b="1" dirty="0">
                <a:solidFill>
                  <a:srgbClr val="16211F"/>
                </a:solidFill>
                <a:latin typeface="Calibri" pitchFamily="34" charset="0"/>
                <a:ea typeface="Calibri" pitchFamily="34" charset="-122"/>
                <a:cs typeface="Calibri" pitchFamily="34" charset="-120"/>
              </a:rPr>
              <a:t>Gömülü panel + bildirimler</a:t>
            </a:r>
            <a:endParaRPr lang="en-US" sz="1500" dirty="0"/>
          </a:p>
        </p:txBody>
      </p:sp>
      <p:sp>
        <p:nvSpPr>
          <p:cNvPr id="25" name="Text 23"/>
          <p:cNvSpPr/>
          <p:nvPr/>
        </p:nvSpPr>
        <p:spPr>
          <a:xfrm>
            <a:off x="2057400" y="6062472"/>
            <a:ext cx="6309360" cy="502920"/>
          </a:xfrm>
          <a:prstGeom prst="rect">
            <a:avLst/>
          </a:prstGeom>
          <a:noFill/>
          <a:ln/>
        </p:spPr>
        <p:txBody>
          <a:bodyPr wrap="square" rtlCol="0" anchor="ctr"/>
          <a:lstStyle/>
          <a:p>
            <a:pPr indent="0" marL="0">
              <a:lnSpc>
                <a:spcPts val="1400"/>
              </a:lnSpc>
              <a:buNone/>
            </a:pPr>
            <a:r>
              <a:rPr lang="en-US" sz="1150" dirty="0">
                <a:solidFill>
                  <a:srgbClr val="7C8A86"/>
                </a:solidFill>
                <a:latin typeface="Calibri" pitchFamily="34" charset="0"/>
                <a:ea typeface="Calibri" pitchFamily="34" charset="-122"/>
                <a:cs typeface="Calibri" pitchFamily="34" charset="-120"/>
              </a:rPr>
              <a:t>İKAS admin içinde native görünüm, başvuru tarihleri için webhook bildirimleri</a:t>
            </a:r>
            <a:endParaRPr lang="en-US" sz="1150" dirty="0"/>
          </a:p>
        </p:txBody>
      </p:sp>
      <p:sp>
        <p:nvSpPr>
          <p:cNvPr id="26" name="Shape 24"/>
          <p:cNvSpPr/>
          <p:nvPr/>
        </p:nvSpPr>
        <p:spPr>
          <a:xfrm>
            <a:off x="8732520" y="5897880"/>
            <a:ext cx="1828800" cy="402336"/>
          </a:xfrm>
          <a:prstGeom prst="roundRect">
            <a:avLst>
              <a:gd name="adj" fmla="val 18182"/>
            </a:avLst>
          </a:prstGeom>
          <a:solidFill>
            <a:srgbClr val="E7EAE8"/>
          </a:solidFill>
          <a:ln/>
        </p:spPr>
      </p:sp>
      <p:sp>
        <p:nvSpPr>
          <p:cNvPr id="27" name="Text 25"/>
          <p:cNvSpPr/>
          <p:nvPr/>
        </p:nvSpPr>
        <p:spPr>
          <a:xfrm>
            <a:off x="8732520" y="5897880"/>
            <a:ext cx="1828800" cy="402336"/>
          </a:xfrm>
          <a:prstGeom prst="rect">
            <a:avLst/>
          </a:prstGeom>
          <a:noFill/>
          <a:ln/>
        </p:spPr>
        <p:txBody>
          <a:bodyPr wrap="square" lIns="0" tIns="0" rIns="0" bIns="0" rtlCol="0" anchor="ctr"/>
          <a:lstStyle/>
          <a:p>
            <a:pPr algn="ctr" indent="0" marL="0">
              <a:buNone/>
            </a:pPr>
            <a:r>
              <a:rPr lang="en-US" sz="1150" b="1" dirty="0">
                <a:solidFill>
                  <a:srgbClr val="667370"/>
                </a:solidFill>
                <a:latin typeface="Calibri" pitchFamily="34" charset="0"/>
                <a:ea typeface="Calibri" pitchFamily="34" charset="-122"/>
                <a:cs typeface="Calibri" pitchFamily="34" charset="-120"/>
              </a:rPr>
              <a:t>Beta sonrası</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50" b="1" spc="200" kern="0" dirty="0">
                <a:solidFill>
                  <a:srgbClr val="B8862F"/>
                </a:solidFill>
                <a:latin typeface="Calibri" pitchFamily="34" charset="0"/>
                <a:ea typeface="Calibri" pitchFamily="34" charset="-122"/>
                <a:cs typeface="Calibri" pitchFamily="34" charset="-120"/>
              </a:rPr>
              <a:t>İKAS İÇİN KAZANÇ MODELİ</a:t>
            </a:r>
            <a:endParaRPr lang="en-US" sz="12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indent="0" marL="0">
              <a:buNone/>
            </a:pPr>
            <a:r>
              <a:rPr lang="en-US" sz="3000" b="1" dirty="0">
                <a:solidFill>
                  <a:srgbClr val="16211F"/>
                </a:solidFill>
                <a:latin typeface="Bookman Old Style" pitchFamily="34" charset="0"/>
                <a:ea typeface="Bookman Old Style" pitchFamily="34" charset="-122"/>
                <a:cs typeface="Bookman Old Style" pitchFamily="34" charset="-120"/>
              </a:rPr>
              <a:t>Ek gelir, sıfır operasyonel yük</a:t>
            </a:r>
            <a:endParaRPr lang="en-US" sz="3000" dirty="0"/>
          </a:p>
        </p:txBody>
      </p:sp>
      <p:sp>
        <p:nvSpPr>
          <p:cNvPr id="4" name="Text 2"/>
          <p:cNvSpPr/>
          <p:nvPr/>
        </p:nvSpPr>
        <p:spPr>
          <a:xfrm>
            <a:off x="640080" y="1600200"/>
            <a:ext cx="10881360" cy="502920"/>
          </a:xfrm>
          <a:prstGeom prst="rect">
            <a:avLst/>
          </a:prstGeom>
          <a:noFill/>
          <a:ln/>
        </p:spPr>
        <p:txBody>
          <a:bodyPr wrap="square" rtlCol="0" anchor="ctr"/>
          <a:lstStyle/>
          <a:p>
            <a:pPr indent="0" marL="0">
              <a:lnSpc>
                <a:spcPts val="2000"/>
              </a:lnSpc>
              <a:buNone/>
            </a:pPr>
            <a:r>
              <a:rPr lang="en-US" sz="1400" dirty="0">
                <a:solidFill>
                  <a:srgbClr val="4B5B57"/>
                </a:solidFill>
                <a:latin typeface="Calibri" pitchFamily="34" charset="0"/>
                <a:ea typeface="Calibri" pitchFamily="34" charset="-122"/>
                <a:cs typeface="Calibri" pitchFamily="34" charset="-120"/>
              </a:rPr>
              <a:t>Bu bir entegrasyon değil, bir ortaklık: geliştirme ve bakım bize ait, İKAS'a yansıyan tek şey satıcı memnuniyeti ve gelir payı.</a:t>
            </a:r>
            <a:endParaRPr lang="en-US" sz="1400" dirty="0"/>
          </a:p>
        </p:txBody>
      </p:sp>
      <p:sp>
        <p:nvSpPr>
          <p:cNvPr id="5" name="Shape 3"/>
          <p:cNvSpPr/>
          <p:nvPr/>
        </p:nvSpPr>
        <p:spPr>
          <a:xfrm>
            <a:off x="640080" y="2331720"/>
            <a:ext cx="3429000" cy="1965960"/>
          </a:xfrm>
          <a:prstGeom prst="rect">
            <a:avLst/>
          </a:prstGeom>
          <a:solidFill>
            <a:srgbClr val="FFFFFF"/>
          </a:solidFill>
          <a:ln/>
          <a:effectLst>
            <a:outerShdw sx="100000" sy="100000" kx="0" ky="0" algn="bl" rotWithShape="0" blurRad="101600" dist="38100" dir="54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932688" y="2606040"/>
            <a:ext cx="457200" cy="457200"/>
          </a:xfrm>
          <a:prstGeom prst="rect">
            <a:avLst/>
          </a:prstGeom>
        </p:spPr>
      </p:pic>
      <p:sp>
        <p:nvSpPr>
          <p:cNvPr id="7" name="Text 4"/>
          <p:cNvSpPr/>
          <p:nvPr/>
        </p:nvSpPr>
        <p:spPr>
          <a:xfrm>
            <a:off x="932688" y="3172968"/>
            <a:ext cx="2843784" cy="502920"/>
          </a:xfrm>
          <a:prstGeom prst="rect">
            <a:avLst/>
          </a:prstGeom>
          <a:noFill/>
          <a:ln/>
        </p:spPr>
        <p:txBody>
          <a:bodyPr wrap="square" lIns="0" tIns="0" rIns="0" bIns="0" rtlCol="0" anchor="ctr"/>
          <a:lstStyle/>
          <a:p>
            <a:pPr indent="0" marL="0">
              <a:lnSpc>
                <a:spcPts val="1900"/>
              </a:lnSpc>
              <a:buNone/>
            </a:pPr>
            <a:r>
              <a:rPr lang="en-US" sz="1700" b="1" dirty="0">
                <a:solidFill>
                  <a:srgbClr val="2F5E5B"/>
                </a:solidFill>
                <a:latin typeface="Bookman Old Style" pitchFamily="34" charset="0"/>
                <a:ea typeface="Bookman Old Style" pitchFamily="34" charset="-122"/>
                <a:cs typeface="Bookman Old Style" pitchFamily="34" charset="-120"/>
              </a:rPr>
              <a:t>%15–20 gelir payı</a:t>
            </a:r>
            <a:endParaRPr lang="en-US" sz="1700" dirty="0"/>
          </a:p>
        </p:txBody>
      </p:sp>
      <p:sp>
        <p:nvSpPr>
          <p:cNvPr id="8" name="Text 5"/>
          <p:cNvSpPr/>
          <p:nvPr/>
        </p:nvSpPr>
        <p:spPr>
          <a:xfrm>
            <a:off x="932688" y="3685032"/>
            <a:ext cx="2843784" cy="548640"/>
          </a:xfrm>
          <a:prstGeom prst="rect">
            <a:avLst/>
          </a:prstGeom>
          <a:noFill/>
          <a:ln/>
        </p:spPr>
        <p:txBody>
          <a:bodyPr wrap="square" rtlCol="0" anchor="ctr"/>
          <a:lstStyle/>
          <a:p>
            <a:pPr indent="0" marL="0">
              <a:lnSpc>
                <a:spcPts val="1400"/>
              </a:lnSpc>
              <a:buNone/>
            </a:pPr>
            <a:r>
              <a:rPr lang="en-US" sz="1100" dirty="0">
                <a:solidFill>
                  <a:srgbClr val="7C8A86"/>
                </a:solidFill>
                <a:latin typeface="Calibri" pitchFamily="34" charset="0"/>
                <a:ea typeface="Calibri" pitchFamily="34" charset="-122"/>
                <a:cs typeface="Calibri" pitchFamily="34" charset="-120"/>
              </a:rPr>
              <a:t>İKAS üzerinden gelen her PRO/BUSINESS abonelikten</a:t>
            </a:r>
            <a:endParaRPr lang="en-US" sz="1100" dirty="0"/>
          </a:p>
        </p:txBody>
      </p:sp>
      <p:sp>
        <p:nvSpPr>
          <p:cNvPr id="9" name="Shape 6"/>
          <p:cNvSpPr/>
          <p:nvPr/>
        </p:nvSpPr>
        <p:spPr>
          <a:xfrm>
            <a:off x="4389120" y="2331720"/>
            <a:ext cx="3429000" cy="1965960"/>
          </a:xfrm>
          <a:prstGeom prst="rect">
            <a:avLst/>
          </a:prstGeom>
          <a:solidFill>
            <a:srgbClr val="FFFFFF"/>
          </a:solidFill>
          <a:ln/>
          <a:effectLst>
            <a:outerShdw sx="100000" sy="100000" kx="0" ky="0" algn="bl" rotWithShape="0" blurRad="101600" dist="38100" dir="5400000">
              <a:srgbClr val="000000">
                <a:alpha val="8000"/>
              </a:srgbClr>
            </a:outerShdw>
          </a:effectLst>
        </p:spPr>
      </p:sp>
      <p:pic>
        <p:nvPicPr>
          <p:cNvPr id="10" name="Image 1" descr="preencoded.png">    </p:cNvPr>
          <p:cNvPicPr>
            <a:picLocks noChangeAspect="1"/>
          </p:cNvPicPr>
          <p:nvPr/>
        </p:nvPicPr>
        <p:blipFill>
          <a:blip r:embed="rId2"/>
          <a:stretch>
            <a:fillRect/>
          </a:stretch>
        </p:blipFill>
        <p:spPr>
          <a:xfrm>
            <a:off x="4681728" y="2606040"/>
            <a:ext cx="457200" cy="457200"/>
          </a:xfrm>
          <a:prstGeom prst="rect">
            <a:avLst/>
          </a:prstGeom>
        </p:spPr>
      </p:pic>
      <p:sp>
        <p:nvSpPr>
          <p:cNvPr id="11" name="Text 7"/>
          <p:cNvSpPr/>
          <p:nvPr/>
        </p:nvSpPr>
        <p:spPr>
          <a:xfrm>
            <a:off x="4681728" y="3172968"/>
            <a:ext cx="2843784" cy="502920"/>
          </a:xfrm>
          <a:prstGeom prst="rect">
            <a:avLst/>
          </a:prstGeom>
          <a:noFill/>
          <a:ln/>
        </p:spPr>
        <p:txBody>
          <a:bodyPr wrap="square" lIns="0" tIns="0" rIns="0" bIns="0" rtlCol="0" anchor="ctr"/>
          <a:lstStyle/>
          <a:p>
            <a:pPr indent="0" marL="0">
              <a:lnSpc>
                <a:spcPts val="1900"/>
              </a:lnSpc>
              <a:buNone/>
            </a:pPr>
            <a:r>
              <a:rPr lang="en-US" sz="1700" b="1" dirty="0">
                <a:solidFill>
                  <a:srgbClr val="2F5E5B"/>
                </a:solidFill>
                <a:latin typeface="Bookman Old Style" pitchFamily="34" charset="0"/>
                <a:ea typeface="Bookman Old Style" pitchFamily="34" charset="-122"/>
                <a:cs typeface="Bookman Old Style" pitchFamily="34" charset="-120"/>
              </a:rPr>
              <a:t>Sıfır entegrasyon maliyeti</a:t>
            </a:r>
            <a:endParaRPr lang="en-US" sz="1700" dirty="0"/>
          </a:p>
        </p:txBody>
      </p:sp>
      <p:sp>
        <p:nvSpPr>
          <p:cNvPr id="12" name="Text 8"/>
          <p:cNvSpPr/>
          <p:nvPr/>
        </p:nvSpPr>
        <p:spPr>
          <a:xfrm>
            <a:off x="4681728" y="3685032"/>
            <a:ext cx="2843784" cy="548640"/>
          </a:xfrm>
          <a:prstGeom prst="rect">
            <a:avLst/>
          </a:prstGeom>
          <a:noFill/>
          <a:ln/>
        </p:spPr>
        <p:txBody>
          <a:bodyPr wrap="square" rtlCol="0" anchor="ctr"/>
          <a:lstStyle/>
          <a:p>
            <a:pPr indent="0" marL="0">
              <a:lnSpc>
                <a:spcPts val="1400"/>
              </a:lnSpc>
              <a:buNone/>
            </a:pPr>
            <a:r>
              <a:rPr lang="en-US" sz="1100" dirty="0">
                <a:solidFill>
                  <a:srgbClr val="7C8A86"/>
                </a:solidFill>
                <a:latin typeface="Calibri" pitchFamily="34" charset="0"/>
                <a:ea typeface="Calibri" pitchFamily="34" charset="-122"/>
                <a:cs typeface="Calibri" pitchFamily="34" charset="-120"/>
              </a:rPr>
              <a:t>Geliştirme, barındırma ve bakım tamamen bizde</a:t>
            </a:r>
            <a:endParaRPr lang="en-US" sz="1100" dirty="0"/>
          </a:p>
        </p:txBody>
      </p:sp>
      <p:sp>
        <p:nvSpPr>
          <p:cNvPr id="13" name="Shape 9"/>
          <p:cNvSpPr/>
          <p:nvPr/>
        </p:nvSpPr>
        <p:spPr>
          <a:xfrm>
            <a:off x="8138160" y="2331720"/>
            <a:ext cx="3429000" cy="1965960"/>
          </a:xfrm>
          <a:prstGeom prst="rect">
            <a:avLst/>
          </a:prstGeom>
          <a:solidFill>
            <a:srgbClr val="FFFFFF"/>
          </a:solidFill>
          <a:ln/>
          <a:effectLst>
            <a:outerShdw sx="100000" sy="100000" kx="0" ky="0" algn="bl" rotWithShape="0" blurRad="101600" dist="38100" dir="5400000">
              <a:srgbClr val="000000">
                <a:alpha val="8000"/>
              </a:srgbClr>
            </a:outerShdw>
          </a:effectLst>
        </p:spPr>
      </p:sp>
      <p:pic>
        <p:nvPicPr>
          <p:cNvPr id="14" name="Image 2" descr="preencoded.png">    </p:cNvPr>
          <p:cNvPicPr>
            <a:picLocks noChangeAspect="1"/>
          </p:cNvPicPr>
          <p:nvPr/>
        </p:nvPicPr>
        <p:blipFill>
          <a:blip r:embed="rId3"/>
          <a:stretch>
            <a:fillRect/>
          </a:stretch>
        </p:blipFill>
        <p:spPr>
          <a:xfrm>
            <a:off x="8430768" y="2606040"/>
            <a:ext cx="457200" cy="457200"/>
          </a:xfrm>
          <a:prstGeom prst="rect">
            <a:avLst/>
          </a:prstGeom>
        </p:spPr>
      </p:pic>
      <p:sp>
        <p:nvSpPr>
          <p:cNvPr id="15" name="Text 10"/>
          <p:cNvSpPr/>
          <p:nvPr/>
        </p:nvSpPr>
        <p:spPr>
          <a:xfrm>
            <a:off x="8430768" y="3172968"/>
            <a:ext cx="2843784" cy="502920"/>
          </a:xfrm>
          <a:prstGeom prst="rect">
            <a:avLst/>
          </a:prstGeom>
          <a:noFill/>
          <a:ln/>
        </p:spPr>
        <p:txBody>
          <a:bodyPr wrap="square" lIns="0" tIns="0" rIns="0" bIns="0" rtlCol="0" anchor="ctr"/>
          <a:lstStyle/>
          <a:p>
            <a:pPr indent="0" marL="0">
              <a:lnSpc>
                <a:spcPts val="1900"/>
              </a:lnSpc>
              <a:buNone/>
            </a:pPr>
            <a:r>
              <a:rPr lang="en-US" sz="1700" b="1" dirty="0">
                <a:solidFill>
                  <a:srgbClr val="2F5E5B"/>
                </a:solidFill>
                <a:latin typeface="Bookman Old Style" pitchFamily="34" charset="0"/>
                <a:ea typeface="Bookman Old Style" pitchFamily="34" charset="-122"/>
                <a:cs typeface="Bookman Old Style" pitchFamily="34" charset="-120"/>
              </a:rPr>
              <a:t>Satıcı elde tutma</a:t>
            </a:r>
            <a:endParaRPr lang="en-US" sz="1700" dirty="0"/>
          </a:p>
        </p:txBody>
      </p:sp>
      <p:sp>
        <p:nvSpPr>
          <p:cNvPr id="16" name="Text 11"/>
          <p:cNvSpPr/>
          <p:nvPr/>
        </p:nvSpPr>
        <p:spPr>
          <a:xfrm>
            <a:off x="8430768" y="3685032"/>
            <a:ext cx="2843784" cy="548640"/>
          </a:xfrm>
          <a:prstGeom prst="rect">
            <a:avLst/>
          </a:prstGeom>
          <a:noFill/>
          <a:ln/>
        </p:spPr>
        <p:txBody>
          <a:bodyPr wrap="square" rtlCol="0" anchor="ctr"/>
          <a:lstStyle/>
          <a:p>
            <a:pPr indent="0" marL="0">
              <a:lnSpc>
                <a:spcPts val="1400"/>
              </a:lnSpc>
              <a:buNone/>
            </a:pPr>
            <a:r>
              <a:rPr lang="en-US" sz="1100" dirty="0">
                <a:solidFill>
                  <a:srgbClr val="7C8A86"/>
                </a:solidFill>
                <a:latin typeface="Calibri" pitchFamily="34" charset="0"/>
                <a:ea typeface="Calibri" pitchFamily="34" charset="-122"/>
                <a:cs typeface="Calibri" pitchFamily="34" charset="-120"/>
              </a:rPr>
              <a:t>Mağazadan ayrılma sebeplerinden birini ortadan kaldıran ek değer katmanı</a:t>
            </a:r>
            <a:endParaRPr lang="en-US" sz="1100" dirty="0"/>
          </a:p>
        </p:txBody>
      </p:sp>
      <p:sp>
        <p:nvSpPr>
          <p:cNvPr id="17" name="Shape 12"/>
          <p:cNvSpPr/>
          <p:nvPr/>
        </p:nvSpPr>
        <p:spPr>
          <a:xfrm>
            <a:off x="640080" y="4572000"/>
            <a:ext cx="10881360" cy="1417320"/>
          </a:xfrm>
          <a:prstGeom prst="rect">
            <a:avLst/>
          </a:prstGeom>
          <a:solidFill>
            <a:srgbClr val="1B3430"/>
          </a:solidFill>
          <a:ln/>
        </p:spPr>
      </p:sp>
      <p:sp>
        <p:nvSpPr>
          <p:cNvPr id="18" name="Text 13"/>
          <p:cNvSpPr/>
          <p:nvPr/>
        </p:nvSpPr>
        <p:spPr>
          <a:xfrm>
            <a:off x="914400" y="4773168"/>
            <a:ext cx="9601200" cy="320040"/>
          </a:xfrm>
          <a:prstGeom prst="rect">
            <a:avLst/>
          </a:prstGeom>
          <a:noFill/>
          <a:ln/>
        </p:spPr>
        <p:txBody>
          <a:bodyPr wrap="square" rtlCol="0" anchor="ctr"/>
          <a:lstStyle/>
          <a:p>
            <a:pPr indent="0" marL="0">
              <a:buNone/>
            </a:pPr>
            <a:r>
              <a:rPr lang="en-US" sz="1050" b="1" spc="100" kern="0" dirty="0">
                <a:solidFill>
                  <a:srgbClr val="D7AE63"/>
                </a:solidFill>
                <a:latin typeface="Calibri" pitchFamily="34" charset="0"/>
                <a:ea typeface="Calibri" pitchFamily="34" charset="-122"/>
                <a:cs typeface="Calibri" pitchFamily="34" charset="-120"/>
              </a:rPr>
              <a:t>ÖRNEK HESAPLAMA  ·  varsayımsal, taahhüt değildir</a:t>
            </a:r>
            <a:endParaRPr lang="en-US" sz="1050" dirty="0"/>
          </a:p>
        </p:txBody>
      </p:sp>
      <p:sp>
        <p:nvSpPr>
          <p:cNvPr id="19" name="Text 14"/>
          <p:cNvSpPr/>
          <p:nvPr/>
        </p:nvSpPr>
        <p:spPr>
          <a:xfrm>
            <a:off x="914400" y="5138928"/>
            <a:ext cx="9966960" cy="640080"/>
          </a:xfrm>
          <a:prstGeom prst="rect">
            <a:avLst/>
          </a:prstGeom>
          <a:noFill/>
          <a:ln/>
        </p:spPr>
        <p:txBody>
          <a:bodyPr wrap="square" rtlCol="0" anchor="ctr"/>
          <a:lstStyle/>
          <a:p>
            <a:pPr indent="0" marL="0">
              <a:lnSpc>
                <a:spcPts val="2200"/>
              </a:lnSpc>
              <a:buNone/>
            </a:pPr>
            <a:r>
              <a:rPr lang="en-US" sz="1600" b="1" dirty="0">
                <a:solidFill>
                  <a:srgbClr val="F1F3EF"/>
                </a:solidFill>
                <a:latin typeface="Calibri" pitchFamily="34" charset="0"/>
                <a:ea typeface="Calibri" pitchFamily="34" charset="-122"/>
                <a:cs typeface="Calibri" pitchFamily="34" charset="-120"/>
              </a:rPr>
              <a:t>500</a:t>
            </a:r>
            <a:pPr indent="0" marL="0">
              <a:lnSpc>
                <a:spcPts val="2200"/>
              </a:lnSpc>
              <a:buNone/>
            </a:pPr>
            <a:r>
              <a:rPr lang="en-US" sz="1600" dirty="0">
                <a:solidFill>
                  <a:srgbClr val="C9D2CC"/>
                </a:solidFill>
                <a:latin typeface="Calibri" pitchFamily="34" charset="0"/>
                <a:ea typeface="Calibri" pitchFamily="34" charset="-122"/>
                <a:cs typeface="Calibri" pitchFamily="34" charset="-120"/>
              </a:rPr>
              <a:t> bağlı satıcı  ×  </a:t>
            </a:r>
            <a:pPr indent="0" marL="0">
              <a:lnSpc>
                <a:spcPts val="2200"/>
              </a:lnSpc>
              <a:buNone/>
            </a:pPr>
            <a:r>
              <a:rPr lang="en-US" sz="1600" b="1" dirty="0">
                <a:solidFill>
                  <a:srgbClr val="F1F3EF"/>
                </a:solidFill>
                <a:latin typeface="Calibri" pitchFamily="34" charset="0"/>
                <a:ea typeface="Calibri" pitchFamily="34" charset="-122"/>
                <a:cs typeface="Calibri" pitchFamily="34" charset="-120"/>
              </a:rPr>
              <a:t>%10</a:t>
            </a:r>
            <a:pPr indent="0" marL="0">
              <a:lnSpc>
                <a:spcPts val="2200"/>
              </a:lnSpc>
              <a:buNone/>
            </a:pPr>
            <a:r>
              <a:rPr lang="en-US" sz="1600" dirty="0">
                <a:solidFill>
                  <a:srgbClr val="C9D2CC"/>
                </a:solidFill>
                <a:latin typeface="Calibri" pitchFamily="34" charset="0"/>
                <a:ea typeface="Calibri" pitchFamily="34" charset="-122"/>
                <a:cs typeface="Calibri" pitchFamily="34" charset="-120"/>
              </a:rPr>
              <a:t> dönüşüm  ×  </a:t>
            </a:r>
            <a:pPr indent="0" marL="0">
              <a:lnSpc>
                <a:spcPts val="2200"/>
              </a:lnSpc>
              <a:buNone/>
            </a:pPr>
            <a:r>
              <a:rPr lang="en-US" sz="1600" b="1" dirty="0">
                <a:solidFill>
                  <a:srgbClr val="F1F3EF"/>
                </a:solidFill>
                <a:latin typeface="Calibri" pitchFamily="34" charset="0"/>
                <a:ea typeface="Calibri" pitchFamily="34" charset="-122"/>
                <a:cs typeface="Calibri" pitchFamily="34" charset="-120"/>
              </a:rPr>
              <a:t>₺299</a:t>
            </a:r>
            <a:pPr indent="0" marL="0">
              <a:lnSpc>
                <a:spcPts val="2200"/>
              </a:lnSpc>
              <a:buNone/>
            </a:pPr>
            <a:r>
              <a:rPr lang="en-US" sz="1600" dirty="0">
                <a:solidFill>
                  <a:srgbClr val="C9D2CC"/>
                </a:solidFill>
                <a:latin typeface="Calibri" pitchFamily="34" charset="0"/>
                <a:ea typeface="Calibri" pitchFamily="34" charset="-122"/>
                <a:cs typeface="Calibri" pitchFamily="34" charset="-120"/>
              </a:rPr>
              <a:t>/ay PRO  ×  </a:t>
            </a:r>
            <a:pPr indent="0" marL="0">
              <a:lnSpc>
                <a:spcPts val="2200"/>
              </a:lnSpc>
              <a:buNone/>
            </a:pPr>
            <a:r>
              <a:rPr lang="en-US" sz="1600" b="1" dirty="0">
                <a:solidFill>
                  <a:srgbClr val="F1F3EF"/>
                </a:solidFill>
                <a:latin typeface="Calibri" pitchFamily="34" charset="0"/>
                <a:ea typeface="Calibri" pitchFamily="34" charset="-122"/>
                <a:cs typeface="Calibri" pitchFamily="34" charset="-120"/>
              </a:rPr>
              <a:t>%15</a:t>
            </a:r>
            <a:pPr indent="0" marL="0">
              <a:lnSpc>
                <a:spcPts val="2200"/>
              </a:lnSpc>
              <a:buNone/>
            </a:pPr>
            <a:r>
              <a:rPr lang="en-US" sz="1600" dirty="0">
                <a:solidFill>
                  <a:srgbClr val="C9D2CC"/>
                </a:solidFill>
                <a:latin typeface="Calibri" pitchFamily="34" charset="0"/>
                <a:ea typeface="Calibri" pitchFamily="34" charset="-122"/>
                <a:cs typeface="Calibri" pitchFamily="34" charset="-120"/>
              </a:rPr>
              <a:t> pay  ≈  </a:t>
            </a:r>
            <a:pPr indent="0" marL="0">
              <a:lnSpc>
                <a:spcPts val="2200"/>
              </a:lnSpc>
              <a:buNone/>
            </a:pPr>
            <a:r>
              <a:rPr lang="en-US" sz="1600" b="1" dirty="0">
                <a:solidFill>
                  <a:srgbClr val="D7AE63"/>
                </a:solidFill>
                <a:latin typeface="Calibri" pitchFamily="34" charset="0"/>
                <a:ea typeface="Calibri" pitchFamily="34" charset="-122"/>
                <a:cs typeface="Calibri" pitchFamily="34" charset="-120"/>
              </a:rPr>
              <a:t>₺2.243/ay</a:t>
            </a:r>
            <a:pPr indent="0" marL="0">
              <a:lnSpc>
                <a:spcPts val="2200"/>
              </a:lnSpc>
              <a:buNone/>
            </a:pPr>
            <a:r>
              <a:rPr lang="en-US" sz="1600" dirty="0">
                <a:solidFill>
                  <a:srgbClr val="C9D2CC"/>
                </a:solidFill>
                <a:latin typeface="Calibri" pitchFamily="34" charset="0"/>
                <a:ea typeface="Calibri" pitchFamily="34" charset="-122"/>
                <a:cs typeface="Calibri" pitchFamily="34" charset="-120"/>
              </a:rPr>
              <a:t> pasif gelir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50" b="1" spc="200" kern="0" dirty="0">
                <a:solidFill>
                  <a:srgbClr val="B8862F"/>
                </a:solidFill>
                <a:latin typeface="Calibri" pitchFamily="34" charset="0"/>
                <a:ea typeface="Calibri" pitchFamily="34" charset="-122"/>
                <a:cs typeface="Calibri" pitchFamily="34" charset="-120"/>
              </a:rPr>
              <a:t>TEKNİK ÖZET</a:t>
            </a:r>
            <a:endParaRPr lang="en-US" sz="12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indent="0" marL="0">
              <a:buNone/>
            </a:pPr>
            <a:r>
              <a:rPr lang="en-US" sz="3000" b="1" dirty="0">
                <a:solidFill>
                  <a:srgbClr val="16211F"/>
                </a:solidFill>
                <a:latin typeface="Bookman Old Style" pitchFamily="34" charset="0"/>
                <a:ea typeface="Bookman Old Style" pitchFamily="34" charset="-122"/>
                <a:cs typeface="Bookman Old Style" pitchFamily="34" charset="-120"/>
              </a:rPr>
              <a:t>Standart, denetlenebilir bir entegrasyon</a:t>
            </a:r>
            <a:endParaRPr lang="en-US" sz="3000" dirty="0"/>
          </a:p>
        </p:txBody>
      </p:sp>
      <p:sp>
        <p:nvSpPr>
          <p:cNvPr id="4" name="Shape 2"/>
          <p:cNvSpPr/>
          <p:nvPr/>
        </p:nvSpPr>
        <p:spPr>
          <a:xfrm>
            <a:off x="640080" y="1874520"/>
            <a:ext cx="10881360" cy="1051560"/>
          </a:xfrm>
          <a:prstGeom prst="rect">
            <a:avLst/>
          </a:prstGeom>
          <a:solidFill>
            <a:srgbClr val="FFFFFF"/>
          </a:solidFill>
          <a:ln/>
          <a:effectLst>
            <a:outerShdw sx="100000" sy="100000" kx="0" ky="0" algn="bl" rotWithShape="0" blurRad="76200" dist="25400" dir="5400000">
              <a:srgbClr val="000000">
                <a:alpha val="6000"/>
              </a:srgbClr>
            </a:outerShdw>
          </a:effectLst>
        </p:spPr>
      </p:sp>
      <p:pic>
        <p:nvPicPr>
          <p:cNvPr id="5" name="Image 0" descr="preencoded.png">    </p:cNvPr>
          <p:cNvPicPr>
            <a:picLocks noChangeAspect="1"/>
          </p:cNvPicPr>
          <p:nvPr/>
        </p:nvPicPr>
        <p:blipFill>
          <a:blip r:embed="rId1"/>
          <a:stretch>
            <a:fillRect/>
          </a:stretch>
        </p:blipFill>
        <p:spPr>
          <a:xfrm>
            <a:off x="914400" y="2153412"/>
            <a:ext cx="493776" cy="493776"/>
          </a:xfrm>
          <a:prstGeom prst="rect">
            <a:avLst/>
          </a:prstGeom>
        </p:spPr>
      </p:pic>
      <p:sp>
        <p:nvSpPr>
          <p:cNvPr id="6" name="Text 3"/>
          <p:cNvSpPr/>
          <p:nvPr/>
        </p:nvSpPr>
        <p:spPr>
          <a:xfrm>
            <a:off x="1691640" y="1984248"/>
            <a:ext cx="2743200" cy="832104"/>
          </a:xfrm>
          <a:prstGeom prst="rect">
            <a:avLst/>
          </a:prstGeom>
          <a:noFill/>
          <a:ln/>
        </p:spPr>
        <p:txBody>
          <a:bodyPr wrap="square" lIns="0" tIns="0" rIns="0" bIns="0" rtlCol="0" anchor="ctr"/>
          <a:lstStyle/>
          <a:p>
            <a:pPr indent="0" marL="0">
              <a:buNone/>
            </a:pPr>
            <a:r>
              <a:rPr lang="en-US" sz="1400" b="1" dirty="0">
                <a:solidFill>
                  <a:srgbClr val="16211F"/>
                </a:solidFill>
                <a:latin typeface="Calibri" pitchFamily="34" charset="0"/>
                <a:ea typeface="Calibri" pitchFamily="34" charset="-122"/>
                <a:cs typeface="Calibri" pitchFamily="34" charset="-120"/>
              </a:rPr>
              <a:t>Yetkilendirme</a:t>
            </a:r>
            <a:endParaRPr lang="en-US" sz="1400" dirty="0"/>
          </a:p>
        </p:txBody>
      </p:sp>
      <p:sp>
        <p:nvSpPr>
          <p:cNvPr id="7" name="Text 4"/>
          <p:cNvSpPr/>
          <p:nvPr/>
        </p:nvSpPr>
        <p:spPr>
          <a:xfrm>
            <a:off x="4572000" y="1984248"/>
            <a:ext cx="6675120" cy="832104"/>
          </a:xfrm>
          <a:prstGeom prst="rect">
            <a:avLst/>
          </a:prstGeom>
          <a:noFill/>
          <a:ln/>
        </p:spPr>
        <p:txBody>
          <a:bodyPr wrap="square" rtlCol="0" anchor="ctr"/>
          <a:lstStyle/>
          <a:p>
            <a:pPr indent="0" marL="0">
              <a:lnSpc>
                <a:spcPts val="1600"/>
              </a:lnSpc>
              <a:buNone/>
            </a:pPr>
            <a:r>
              <a:rPr lang="en-US" sz="1250" dirty="0">
                <a:solidFill>
                  <a:srgbClr val="4B5B57"/>
                </a:solidFill>
                <a:latin typeface="Calibri" pitchFamily="34" charset="0"/>
                <a:ea typeface="Calibri" pitchFamily="34" charset="-122"/>
                <a:cs typeface="Calibri" pitchFamily="34" charset="-120"/>
              </a:rPr>
              <a:t>İKAS OAuth2 Authorization Code Flow — mağaza sahibi tek onayla bağlanır, salt-okunur kapsam</a:t>
            </a:r>
            <a:endParaRPr lang="en-US" sz="1250" dirty="0"/>
          </a:p>
        </p:txBody>
      </p:sp>
      <p:sp>
        <p:nvSpPr>
          <p:cNvPr id="8" name="Shape 5"/>
          <p:cNvSpPr/>
          <p:nvPr/>
        </p:nvSpPr>
        <p:spPr>
          <a:xfrm>
            <a:off x="640080" y="3108960"/>
            <a:ext cx="10881360" cy="1051560"/>
          </a:xfrm>
          <a:prstGeom prst="rect">
            <a:avLst/>
          </a:prstGeom>
          <a:solidFill>
            <a:srgbClr val="FFFFFF"/>
          </a:solidFill>
          <a:ln/>
          <a:effectLst>
            <a:outerShdw sx="100000" sy="100000" kx="0" ky="0" algn="bl" rotWithShape="0" blurRad="76200" dist="25400" dir="5400000">
              <a:srgbClr val="000000">
                <a:alpha val="6000"/>
              </a:srgbClr>
            </a:outerShdw>
          </a:effectLst>
        </p:spPr>
      </p:sp>
      <p:pic>
        <p:nvPicPr>
          <p:cNvPr id="9" name="Image 1" descr="preencoded.png">    </p:cNvPr>
          <p:cNvPicPr>
            <a:picLocks noChangeAspect="1"/>
          </p:cNvPicPr>
          <p:nvPr/>
        </p:nvPicPr>
        <p:blipFill>
          <a:blip r:embed="rId2"/>
          <a:stretch>
            <a:fillRect/>
          </a:stretch>
        </p:blipFill>
        <p:spPr>
          <a:xfrm>
            <a:off x="914400" y="3387852"/>
            <a:ext cx="493776" cy="493776"/>
          </a:xfrm>
          <a:prstGeom prst="rect">
            <a:avLst/>
          </a:prstGeom>
        </p:spPr>
      </p:pic>
      <p:sp>
        <p:nvSpPr>
          <p:cNvPr id="10" name="Text 6"/>
          <p:cNvSpPr/>
          <p:nvPr/>
        </p:nvSpPr>
        <p:spPr>
          <a:xfrm>
            <a:off x="1691640" y="3218688"/>
            <a:ext cx="2743200" cy="832104"/>
          </a:xfrm>
          <a:prstGeom prst="rect">
            <a:avLst/>
          </a:prstGeom>
          <a:noFill/>
          <a:ln/>
        </p:spPr>
        <p:txBody>
          <a:bodyPr wrap="square" lIns="0" tIns="0" rIns="0" bIns="0" rtlCol="0" anchor="ctr"/>
          <a:lstStyle/>
          <a:p>
            <a:pPr indent="0" marL="0">
              <a:buNone/>
            </a:pPr>
            <a:r>
              <a:rPr lang="en-US" sz="1400" b="1" dirty="0">
                <a:solidFill>
                  <a:srgbClr val="16211F"/>
                </a:solidFill>
                <a:latin typeface="Calibri" pitchFamily="34" charset="0"/>
                <a:ea typeface="Calibri" pitchFamily="34" charset="-122"/>
                <a:cs typeface="Calibri" pitchFamily="34" charset="-120"/>
              </a:rPr>
              <a:t>Veri erişimi</a:t>
            </a:r>
            <a:endParaRPr lang="en-US" sz="1400" dirty="0"/>
          </a:p>
        </p:txBody>
      </p:sp>
      <p:sp>
        <p:nvSpPr>
          <p:cNvPr id="11" name="Text 7"/>
          <p:cNvSpPr/>
          <p:nvPr/>
        </p:nvSpPr>
        <p:spPr>
          <a:xfrm>
            <a:off x="4572000" y="3218688"/>
            <a:ext cx="6675120" cy="832104"/>
          </a:xfrm>
          <a:prstGeom prst="rect">
            <a:avLst/>
          </a:prstGeom>
          <a:noFill/>
          <a:ln/>
        </p:spPr>
        <p:txBody>
          <a:bodyPr wrap="square" rtlCol="0" anchor="ctr"/>
          <a:lstStyle/>
          <a:p>
            <a:pPr indent="0" marL="0">
              <a:lnSpc>
                <a:spcPts val="1600"/>
              </a:lnSpc>
              <a:buNone/>
            </a:pPr>
            <a:r>
              <a:rPr lang="en-US" sz="1250" dirty="0">
                <a:solidFill>
                  <a:srgbClr val="4B5B57"/>
                </a:solidFill>
                <a:latin typeface="Calibri" pitchFamily="34" charset="0"/>
                <a:ea typeface="Calibri" pitchFamily="34" charset="-122"/>
                <a:cs typeface="Calibri" pitchFamily="34" charset="-120"/>
              </a:rPr>
              <a:t>orders:read, products:read kapsamlarıyla İKAS Admin GraphQL API</a:t>
            </a:r>
            <a:endParaRPr lang="en-US" sz="1250" dirty="0"/>
          </a:p>
        </p:txBody>
      </p:sp>
      <p:sp>
        <p:nvSpPr>
          <p:cNvPr id="12" name="Shape 8"/>
          <p:cNvSpPr/>
          <p:nvPr/>
        </p:nvSpPr>
        <p:spPr>
          <a:xfrm>
            <a:off x="640080" y="4343400"/>
            <a:ext cx="10881360" cy="1051560"/>
          </a:xfrm>
          <a:prstGeom prst="rect">
            <a:avLst/>
          </a:prstGeom>
          <a:solidFill>
            <a:srgbClr val="FFFFFF"/>
          </a:solidFill>
          <a:ln/>
          <a:effectLst>
            <a:outerShdw sx="100000" sy="100000" kx="0" ky="0" algn="bl" rotWithShape="0" blurRad="76200" dist="25400" dir="5400000">
              <a:srgbClr val="000000">
                <a:alpha val="6000"/>
              </a:srgbClr>
            </a:outerShdw>
          </a:effectLst>
        </p:spPr>
      </p:sp>
      <p:pic>
        <p:nvPicPr>
          <p:cNvPr id="13" name="Image 2" descr="preencoded.png">    </p:cNvPr>
          <p:cNvPicPr>
            <a:picLocks noChangeAspect="1"/>
          </p:cNvPicPr>
          <p:nvPr/>
        </p:nvPicPr>
        <p:blipFill>
          <a:blip r:embed="rId3"/>
          <a:stretch>
            <a:fillRect/>
          </a:stretch>
        </p:blipFill>
        <p:spPr>
          <a:xfrm>
            <a:off x="914400" y="4622292"/>
            <a:ext cx="493776" cy="493776"/>
          </a:xfrm>
          <a:prstGeom prst="rect">
            <a:avLst/>
          </a:prstGeom>
        </p:spPr>
      </p:pic>
      <p:sp>
        <p:nvSpPr>
          <p:cNvPr id="14" name="Text 9"/>
          <p:cNvSpPr/>
          <p:nvPr/>
        </p:nvSpPr>
        <p:spPr>
          <a:xfrm>
            <a:off x="1691640" y="4453128"/>
            <a:ext cx="2743200" cy="832104"/>
          </a:xfrm>
          <a:prstGeom prst="rect">
            <a:avLst/>
          </a:prstGeom>
          <a:noFill/>
          <a:ln/>
        </p:spPr>
        <p:txBody>
          <a:bodyPr wrap="square" lIns="0" tIns="0" rIns="0" bIns="0" rtlCol="0" anchor="ctr"/>
          <a:lstStyle/>
          <a:p>
            <a:pPr indent="0" marL="0">
              <a:buNone/>
            </a:pPr>
            <a:r>
              <a:rPr lang="en-US" sz="1400" b="1" dirty="0">
                <a:solidFill>
                  <a:srgbClr val="16211F"/>
                </a:solidFill>
                <a:latin typeface="Calibri" pitchFamily="34" charset="0"/>
                <a:ea typeface="Calibri" pitchFamily="34" charset="-122"/>
                <a:cs typeface="Calibri" pitchFamily="34" charset="-120"/>
              </a:rPr>
              <a:t>Motor</a:t>
            </a:r>
            <a:endParaRPr lang="en-US" sz="1400" dirty="0"/>
          </a:p>
        </p:txBody>
      </p:sp>
      <p:sp>
        <p:nvSpPr>
          <p:cNvPr id="15" name="Text 10"/>
          <p:cNvSpPr/>
          <p:nvPr/>
        </p:nvSpPr>
        <p:spPr>
          <a:xfrm>
            <a:off x="4572000" y="4453128"/>
            <a:ext cx="6675120" cy="832104"/>
          </a:xfrm>
          <a:prstGeom prst="rect">
            <a:avLst/>
          </a:prstGeom>
          <a:noFill/>
          <a:ln/>
        </p:spPr>
        <p:txBody>
          <a:bodyPr wrap="square" rtlCol="0" anchor="ctr"/>
          <a:lstStyle/>
          <a:p>
            <a:pPr indent="0" marL="0">
              <a:lnSpc>
                <a:spcPts val="1600"/>
              </a:lnSpc>
              <a:buNone/>
            </a:pPr>
            <a:r>
              <a:rPr lang="en-US" sz="1250" dirty="0">
                <a:solidFill>
                  <a:srgbClr val="4B5B57"/>
                </a:solidFill>
                <a:latin typeface="Calibri" pitchFamily="34" charset="0"/>
                <a:ea typeface="Calibri" pitchFamily="34" charset="-122"/>
                <a:cs typeface="Calibri" pitchFamily="34" charset="-120"/>
              </a:rPr>
              <a:t>Mevcut Python/FastAPI backend — eşleştirme ve bütçe servisleri değişmeden yeniden kullanılır</a:t>
            </a:r>
            <a:endParaRPr lang="en-US" sz="1250" dirty="0"/>
          </a:p>
        </p:txBody>
      </p:sp>
      <p:sp>
        <p:nvSpPr>
          <p:cNvPr id="16" name="Shape 11"/>
          <p:cNvSpPr/>
          <p:nvPr/>
        </p:nvSpPr>
        <p:spPr>
          <a:xfrm>
            <a:off x="640080" y="5577840"/>
            <a:ext cx="10881360" cy="1051560"/>
          </a:xfrm>
          <a:prstGeom prst="rect">
            <a:avLst/>
          </a:prstGeom>
          <a:solidFill>
            <a:srgbClr val="FFFFFF"/>
          </a:solidFill>
          <a:ln/>
          <a:effectLst>
            <a:outerShdw sx="100000" sy="100000" kx="0" ky="0" algn="bl" rotWithShape="0" blurRad="76200" dist="25400" dir="5400000">
              <a:srgbClr val="000000">
                <a:alpha val="6000"/>
              </a:srgbClr>
            </a:outerShdw>
          </a:effectLst>
        </p:spPr>
      </p:sp>
      <p:pic>
        <p:nvPicPr>
          <p:cNvPr id="17" name="Image 3" descr="preencoded.png">    </p:cNvPr>
          <p:cNvPicPr>
            <a:picLocks noChangeAspect="1"/>
          </p:cNvPicPr>
          <p:nvPr/>
        </p:nvPicPr>
        <p:blipFill>
          <a:blip r:embed="rId4"/>
          <a:stretch>
            <a:fillRect/>
          </a:stretch>
        </p:blipFill>
        <p:spPr>
          <a:xfrm>
            <a:off x="914400" y="5856732"/>
            <a:ext cx="493776" cy="493776"/>
          </a:xfrm>
          <a:prstGeom prst="rect">
            <a:avLst/>
          </a:prstGeom>
        </p:spPr>
      </p:pic>
      <p:sp>
        <p:nvSpPr>
          <p:cNvPr id="18" name="Text 12"/>
          <p:cNvSpPr/>
          <p:nvPr/>
        </p:nvSpPr>
        <p:spPr>
          <a:xfrm>
            <a:off x="1691640" y="5687568"/>
            <a:ext cx="2743200" cy="832104"/>
          </a:xfrm>
          <a:prstGeom prst="rect">
            <a:avLst/>
          </a:prstGeom>
          <a:noFill/>
          <a:ln/>
        </p:spPr>
        <p:txBody>
          <a:bodyPr wrap="square" lIns="0" tIns="0" rIns="0" bIns="0" rtlCol="0" anchor="ctr"/>
          <a:lstStyle/>
          <a:p>
            <a:pPr indent="0" marL="0">
              <a:buNone/>
            </a:pPr>
            <a:r>
              <a:rPr lang="en-US" sz="1400" b="1" dirty="0">
                <a:solidFill>
                  <a:srgbClr val="16211F"/>
                </a:solidFill>
                <a:latin typeface="Calibri" pitchFamily="34" charset="0"/>
                <a:ea typeface="Calibri" pitchFamily="34" charset="-122"/>
                <a:cs typeface="Calibri" pitchFamily="34" charset="-120"/>
              </a:rPr>
              <a:t>Veri paylaşımı</a:t>
            </a:r>
            <a:endParaRPr lang="en-US" sz="1400" dirty="0"/>
          </a:p>
        </p:txBody>
      </p:sp>
      <p:sp>
        <p:nvSpPr>
          <p:cNvPr id="19" name="Text 13"/>
          <p:cNvSpPr/>
          <p:nvPr/>
        </p:nvSpPr>
        <p:spPr>
          <a:xfrm>
            <a:off x="4572000" y="5687568"/>
            <a:ext cx="6675120" cy="832104"/>
          </a:xfrm>
          <a:prstGeom prst="rect">
            <a:avLst/>
          </a:prstGeom>
          <a:noFill/>
          <a:ln/>
        </p:spPr>
        <p:txBody>
          <a:bodyPr wrap="square" rtlCol="0" anchor="ctr"/>
          <a:lstStyle/>
          <a:p>
            <a:pPr indent="0" marL="0">
              <a:lnSpc>
                <a:spcPts val="1600"/>
              </a:lnSpc>
              <a:buNone/>
            </a:pPr>
            <a:r>
              <a:rPr lang="en-US" sz="1250" dirty="0">
                <a:solidFill>
                  <a:srgbClr val="4B5B57"/>
                </a:solidFill>
                <a:latin typeface="Calibri" pitchFamily="34" charset="0"/>
                <a:ea typeface="Calibri" pitchFamily="34" charset="-122"/>
                <a:cs typeface="Calibri" pitchFamily="34" charset="-120"/>
              </a:rPr>
              <a:t>Sadece toplulaştırılmış ciro/kategori verisi işlenir; müşteri/sipariş detayı saklanmaz</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420"/>
        </a:solidFill>
      </p:bgPr>
    </p:bg>
    <p:spTree>
      <p:nvGrpSpPr>
        <p:cNvPr id="1" name=""/>
        <p:cNvGrpSpPr/>
        <p:nvPr/>
      </p:nvGrpSpPr>
      <p:grpSpPr>
        <a:xfrm>
          <a:off x="0" y="0"/>
          <a:ext cx="0" cy="0"/>
          <a:chOff x="0" y="0"/>
          <a:chExt cx="0" cy="0"/>
        </a:xfrm>
      </p:grpSpPr>
      <p:sp>
        <p:nvSpPr>
          <p:cNvPr id="2" name="Text 0"/>
          <p:cNvSpPr/>
          <p:nvPr/>
        </p:nvSpPr>
        <p:spPr>
          <a:xfrm>
            <a:off x="822960" y="1371600"/>
            <a:ext cx="7315200" cy="365760"/>
          </a:xfrm>
          <a:prstGeom prst="rect">
            <a:avLst/>
          </a:prstGeom>
          <a:noFill/>
          <a:ln/>
        </p:spPr>
        <p:txBody>
          <a:bodyPr wrap="square" rtlCol="0" anchor="ctr"/>
          <a:lstStyle/>
          <a:p>
            <a:pPr indent="0" marL="0">
              <a:buNone/>
            </a:pPr>
            <a:r>
              <a:rPr lang="en-US" sz="1300" b="1" spc="300" kern="0" dirty="0">
                <a:solidFill>
                  <a:srgbClr val="D7AE63"/>
                </a:solidFill>
                <a:latin typeface="Calibri" pitchFamily="34" charset="0"/>
                <a:ea typeface="Calibri" pitchFamily="34" charset="-122"/>
                <a:cs typeface="Calibri" pitchFamily="34" charset="-120"/>
              </a:rPr>
              <a:t>SIRADAKİ ADIM</a:t>
            </a:r>
            <a:endParaRPr lang="en-US" sz="1300" dirty="0"/>
          </a:p>
        </p:txBody>
      </p:sp>
      <p:sp>
        <p:nvSpPr>
          <p:cNvPr id="3" name="Text 1"/>
          <p:cNvSpPr/>
          <p:nvPr/>
        </p:nvSpPr>
        <p:spPr>
          <a:xfrm>
            <a:off x="777240" y="1737360"/>
            <a:ext cx="9601200" cy="914400"/>
          </a:xfrm>
          <a:prstGeom prst="rect">
            <a:avLst/>
          </a:prstGeom>
          <a:noFill/>
          <a:ln/>
        </p:spPr>
        <p:txBody>
          <a:bodyPr wrap="square" lIns="0" tIns="0" rIns="0" bIns="0" rtlCol="0" anchor="ctr"/>
          <a:lstStyle/>
          <a:p>
            <a:pPr indent="0" marL="0">
              <a:buNone/>
            </a:pPr>
            <a:r>
              <a:rPr lang="en-US" sz="4000" b="1" dirty="0">
                <a:solidFill>
                  <a:srgbClr val="F5F6F2"/>
                </a:solidFill>
                <a:latin typeface="Bookman Old Style" pitchFamily="34" charset="0"/>
                <a:ea typeface="Bookman Old Style" pitchFamily="34" charset="-122"/>
                <a:cs typeface="Bookman Old Style" pitchFamily="34" charset="-120"/>
              </a:rPr>
              <a:t>Beta için birlikte çalışalım</a:t>
            </a:r>
            <a:endParaRPr lang="en-US" sz="4000" dirty="0"/>
          </a:p>
        </p:txBody>
      </p:sp>
      <p:pic>
        <p:nvPicPr>
          <p:cNvPr id="4" name="Image 0" descr="preencoded.png">    </p:cNvPr>
          <p:cNvPicPr>
            <a:picLocks noChangeAspect="1"/>
          </p:cNvPicPr>
          <p:nvPr/>
        </p:nvPicPr>
        <p:blipFill>
          <a:blip r:embed="rId1">
            <a:alphaModFix amt="90000"/>
          </a:blip>
          <a:stretch>
            <a:fillRect/>
          </a:stretch>
        </p:blipFill>
        <p:spPr>
          <a:xfrm>
            <a:off x="822960" y="2907792"/>
            <a:ext cx="292608" cy="292608"/>
          </a:xfrm>
          <a:prstGeom prst="rect">
            <a:avLst/>
          </a:prstGeom>
        </p:spPr>
      </p:pic>
      <p:sp>
        <p:nvSpPr>
          <p:cNvPr id="5" name="Text 2"/>
          <p:cNvSpPr/>
          <p:nvPr/>
        </p:nvSpPr>
        <p:spPr>
          <a:xfrm>
            <a:off x="1325880" y="2880360"/>
            <a:ext cx="8686800" cy="502920"/>
          </a:xfrm>
          <a:prstGeom prst="rect">
            <a:avLst/>
          </a:prstGeom>
          <a:noFill/>
          <a:ln/>
        </p:spPr>
        <p:txBody>
          <a:bodyPr wrap="square" rtlCol="0" anchor="ctr"/>
          <a:lstStyle/>
          <a:p>
            <a:pPr indent="0" marL="0">
              <a:buNone/>
            </a:pPr>
            <a:r>
              <a:rPr lang="en-US" sz="1500" dirty="0">
                <a:solidFill>
                  <a:srgbClr val="DCE4DE"/>
                </a:solidFill>
                <a:latin typeface="Calibri" pitchFamily="34" charset="0"/>
                <a:ea typeface="Calibri" pitchFamily="34" charset="-122"/>
                <a:cs typeface="Calibri" pitchFamily="34" charset="-120"/>
              </a:rPr>
              <a:t>İKAS Builders Dashboard üzerinden uygulama kaydı ve test mağazası ataması</a:t>
            </a:r>
            <a:endParaRPr lang="en-US" sz="1500" dirty="0"/>
          </a:p>
        </p:txBody>
      </p:sp>
      <p:pic>
        <p:nvPicPr>
          <p:cNvPr id="6" name="Image 1" descr="preencoded.png">    </p:cNvPr>
          <p:cNvPicPr>
            <a:picLocks noChangeAspect="1"/>
          </p:cNvPicPr>
          <p:nvPr/>
        </p:nvPicPr>
        <p:blipFill>
          <a:blip r:embed="rId2">
            <a:alphaModFix amt="90000"/>
          </a:blip>
          <a:stretch>
            <a:fillRect/>
          </a:stretch>
        </p:blipFill>
        <p:spPr>
          <a:xfrm>
            <a:off x="822960" y="3566160"/>
            <a:ext cx="292608" cy="292608"/>
          </a:xfrm>
          <a:prstGeom prst="rect">
            <a:avLst/>
          </a:prstGeom>
        </p:spPr>
      </p:pic>
      <p:sp>
        <p:nvSpPr>
          <p:cNvPr id="7" name="Text 3"/>
          <p:cNvSpPr/>
          <p:nvPr/>
        </p:nvSpPr>
        <p:spPr>
          <a:xfrm>
            <a:off x="1325880" y="3538728"/>
            <a:ext cx="8686800" cy="502920"/>
          </a:xfrm>
          <a:prstGeom prst="rect">
            <a:avLst/>
          </a:prstGeom>
          <a:noFill/>
          <a:ln/>
        </p:spPr>
        <p:txBody>
          <a:bodyPr wrap="square" rtlCol="0" anchor="ctr"/>
          <a:lstStyle/>
          <a:p>
            <a:pPr indent="0" marL="0">
              <a:buNone/>
            </a:pPr>
            <a:r>
              <a:rPr lang="en-US" sz="1500" dirty="0">
                <a:solidFill>
                  <a:srgbClr val="DCE4DE"/>
                </a:solidFill>
                <a:latin typeface="Calibri" pitchFamily="34" charset="0"/>
                <a:ea typeface="Calibri" pitchFamily="34" charset="-122"/>
                <a:cs typeface="Calibri" pitchFamily="34" charset="-120"/>
              </a:rPr>
              <a:t>Faz 1 kapsamında OAuth2 bağlantısının bir test mağazasında doğrulanması</a:t>
            </a:r>
            <a:endParaRPr lang="en-US" sz="1500" dirty="0"/>
          </a:p>
        </p:txBody>
      </p:sp>
      <p:pic>
        <p:nvPicPr>
          <p:cNvPr id="8" name="Image 2" descr="preencoded.png">    </p:cNvPr>
          <p:cNvPicPr>
            <a:picLocks noChangeAspect="1"/>
          </p:cNvPicPr>
          <p:nvPr/>
        </p:nvPicPr>
        <p:blipFill>
          <a:blip r:embed="rId3">
            <a:alphaModFix amt="90000"/>
          </a:blip>
          <a:stretch>
            <a:fillRect/>
          </a:stretch>
        </p:blipFill>
        <p:spPr>
          <a:xfrm>
            <a:off x="822960" y="4224528"/>
            <a:ext cx="292608" cy="292608"/>
          </a:xfrm>
          <a:prstGeom prst="rect">
            <a:avLst/>
          </a:prstGeom>
        </p:spPr>
      </p:pic>
      <p:sp>
        <p:nvSpPr>
          <p:cNvPr id="9" name="Text 4"/>
          <p:cNvSpPr/>
          <p:nvPr/>
        </p:nvSpPr>
        <p:spPr>
          <a:xfrm>
            <a:off x="1325880" y="4197096"/>
            <a:ext cx="8686800" cy="502920"/>
          </a:xfrm>
          <a:prstGeom prst="rect">
            <a:avLst/>
          </a:prstGeom>
          <a:noFill/>
          <a:ln/>
        </p:spPr>
        <p:txBody>
          <a:bodyPr wrap="square" rtlCol="0" anchor="ctr"/>
          <a:lstStyle/>
          <a:p>
            <a:pPr indent="0" marL="0">
              <a:buNone/>
            </a:pPr>
            <a:r>
              <a:rPr lang="en-US" sz="1500" dirty="0">
                <a:solidFill>
                  <a:srgbClr val="DCE4DE"/>
                </a:solidFill>
                <a:latin typeface="Calibri" pitchFamily="34" charset="0"/>
                <a:ea typeface="Calibri" pitchFamily="34" charset="-122"/>
                <a:cs typeface="Calibri" pitchFamily="34" charset="-120"/>
              </a:rPr>
              <a:t>İlk gerçek satıcı verisiyle uçtan uca demo</a:t>
            </a:r>
            <a:endParaRPr lang="en-US" sz="1500" dirty="0"/>
          </a:p>
        </p:txBody>
      </p:sp>
      <p:sp>
        <p:nvSpPr>
          <p:cNvPr id="10" name="Text 5"/>
          <p:cNvSpPr/>
          <p:nvPr/>
        </p:nvSpPr>
        <p:spPr>
          <a:xfrm>
            <a:off x="822960" y="6172200"/>
            <a:ext cx="7315200" cy="365760"/>
          </a:xfrm>
          <a:prstGeom prst="rect">
            <a:avLst/>
          </a:prstGeom>
          <a:noFill/>
          <a:ln/>
        </p:spPr>
        <p:txBody>
          <a:bodyPr wrap="square" rtlCol="0" anchor="ctr"/>
          <a:lstStyle/>
          <a:p>
            <a:pPr indent="0" marL="0">
              <a:buNone/>
            </a:pPr>
            <a:r>
              <a:rPr lang="en-US" sz="1050" dirty="0">
                <a:solidFill>
                  <a:srgbClr val="7E9490"/>
                </a:solidFill>
                <a:latin typeface="Calibri" pitchFamily="34" charset="0"/>
                <a:ea typeface="Calibri" pitchFamily="34" charset="-122"/>
                <a:cs typeface="Calibri" pitchFamily="34" charset="-120"/>
              </a:rPr>
              <a:t>Teşvik Asistanı  ·  İKAS Ortaklık Önerisi  ·  Sürüm 0.1</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Tesvik Asistani x IKAS - Entegrasyon Onerisi</dc:title>
  <dc:subject>PptxGenJS Presentation</dc:subject>
  <dc:creator>Tesvik Asistani</dc:creator>
  <cp:lastModifiedBy>Tesvik Asistani</cp:lastModifiedBy>
  <cp:revision>1</cp:revision>
  <dcterms:created xsi:type="dcterms:W3CDTF">2026-07-10T13:00:51Z</dcterms:created>
  <dcterms:modified xsi:type="dcterms:W3CDTF">2026-07-10T13:00:51Z</dcterms:modified>
</cp:coreProperties>
</file>